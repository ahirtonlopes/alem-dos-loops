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embeddings/oleObject1.bin" ContentType="application/vnd.openxmlformats-officedocument.oleObject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147483647" r:id="rId2"/>
    <p:sldId id="2147483635" r:id="rId3"/>
    <p:sldId id="256" r:id="rId4"/>
    <p:sldId id="257" r:id="rId5"/>
    <p:sldId id="258" r:id="rId6"/>
    <p:sldId id="259" r:id="rId7"/>
    <p:sldId id="263" r:id="rId8"/>
    <p:sldId id="260" r:id="rId9"/>
    <p:sldId id="261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147483636" r:id="rId22"/>
    <p:sldId id="2147483646" r:id="rId23"/>
  </p:sldIdLst>
  <p:sldSz cx="9144000" cy="5143500" type="screen16x9"/>
  <p:notesSz cx="6858000" cy="9144000"/>
  <p:embeddedFontLst>
    <p:embeddedFont>
      <p:font typeface="Google Sans" panose="020F0502020204030204" pitchFamily="34" charset="0"/>
      <p:regular r:id="rId25"/>
      <p:bold r:id="rId26"/>
      <p:italic r:id="rId27"/>
      <p:boldItalic r:id="rId28"/>
    </p:embeddedFont>
    <p:embeddedFont>
      <p:font typeface="Google Sans Medium" panose="020F0502020204030204"/>
      <p:regular r:id="rId29"/>
      <p:bold r:id="rId30"/>
      <p:italic r:id="rId31"/>
      <p:boldItalic r:id="rId32"/>
    </p:embeddedFont>
    <p:embeddedFont>
      <p:font typeface="Google Sans Text" panose="020F0502020204030204"/>
      <p:regular r:id="rId33"/>
      <p:bold r:id="rId34"/>
      <p:italic r:id="rId35"/>
      <p:boldItalic r:id="rId36"/>
    </p:embeddedFont>
    <p:embeddedFont>
      <p:font typeface="Graphik" panose="020F0502020204030204" pitchFamily="34" charset="0"/>
      <p:regular r:id="rId37"/>
      <p:bold r:id="rId38"/>
      <p:italic r:id="rId39"/>
      <p:boldItalic r:id="rId40"/>
    </p:embeddedFont>
    <p:embeddedFont>
      <p:font typeface="Graphik Semibold" panose="020F0502020204030204" pitchFamily="34" charset="0"/>
      <p:regular r:id="rId41"/>
      <p:bold r:id="rId42"/>
      <p:italic r:id="rId43"/>
      <p:boldItalic r:id="rId44"/>
    </p:embeddedFont>
    <p:embeddedFont>
      <p:font typeface="Inter" panose="02000503000000020004" pitchFamily="2" charset="0"/>
      <p:regular r:id="rId45"/>
      <p:bold r:id="rId46"/>
      <p:italic r:id="rId47"/>
      <p:boldItalic r:id="rId48"/>
    </p:embeddedFont>
    <p:embeddedFont>
      <p:font typeface="Inter ExtraBold" panose="02000503000000020004" pitchFamily="2" charset="0"/>
      <p:bold r:id="rId49"/>
      <p:italic r:id="rId50"/>
      <p:boldItalic r:id="rId51"/>
    </p:embeddedFont>
    <p:embeddedFont>
      <p:font typeface="Merriweather" pitchFamily="2" charset="77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5" roundtripDataSignature="AMtx7mjv7TPNea5S9/THAJVduAyBufar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00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8"/>
    <p:restoredTop sz="88718"/>
  </p:normalViewPr>
  <p:slideViewPr>
    <p:cSldViewPr snapToGrid="0">
      <p:cViewPr varScale="1">
        <p:scale>
          <a:sx n="134" d="100"/>
          <a:sy n="134" d="100"/>
        </p:scale>
        <p:origin x="18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font" Target="fonts/font17.fntdata"/><Relationship Id="rId42" Type="http://schemas.openxmlformats.org/officeDocument/2006/relationships/font" Target="fonts/font18.fntdata"/><Relationship Id="rId43" Type="http://schemas.openxmlformats.org/officeDocument/2006/relationships/font" Target="fonts/font19.fntdata"/><Relationship Id="rId44" Type="http://schemas.openxmlformats.org/officeDocument/2006/relationships/font" Target="fonts/font20.fntdata"/><Relationship Id="rId45" Type="http://schemas.openxmlformats.org/officeDocument/2006/relationships/font" Target="fonts/font21.fntdata"/><Relationship Id="rId46" Type="http://schemas.openxmlformats.org/officeDocument/2006/relationships/font" Target="fonts/font22.fntdata"/><Relationship Id="rId47" Type="http://schemas.openxmlformats.org/officeDocument/2006/relationships/font" Target="fonts/font23.fntdata"/><Relationship Id="rId48" Type="http://schemas.openxmlformats.org/officeDocument/2006/relationships/font" Target="fonts/font24.fntdata"/><Relationship Id="rId49" Type="http://schemas.openxmlformats.org/officeDocument/2006/relationships/font" Target="fonts/font25.fntdata"/><Relationship Id="rId50" Type="http://schemas.openxmlformats.org/officeDocument/2006/relationships/font" Target="fonts/font26.fntdata"/><Relationship Id="rId51" Type="http://schemas.openxmlformats.org/officeDocument/2006/relationships/font" Target="fonts/font27.fntdata"/><Relationship Id="rId52" Type="http://schemas.openxmlformats.org/officeDocument/2006/relationships/font" Target="fonts/font28.fntdata"/><Relationship Id="rId53" Type="http://schemas.openxmlformats.org/officeDocument/2006/relationships/font" Target="fonts/font29.fntdata"/><Relationship Id="rId54" Type="http://schemas.openxmlformats.org/officeDocument/2006/relationships/font" Target="fonts/font30.fntdata"/><Relationship Id="rId55" Type="http://schemas.openxmlformats.org/officeDocument/2006/relationships/font" Target="fonts/font31.fntdata"/><Relationship Id="rId175" Type="http://customschemas.google.com/relationships/presentationmetadata" Target="metadata"/><Relationship Id="rId176" Type="http://schemas.openxmlformats.org/officeDocument/2006/relationships/presProps" Target="presProps.xml"/><Relationship Id="rId177" Type="http://schemas.openxmlformats.org/officeDocument/2006/relationships/viewProps" Target="viewProps.xml"/><Relationship Id="rId178" Type="http://schemas.openxmlformats.org/officeDocument/2006/relationships/theme" Target="theme/theme1.xml"/><Relationship Id="rId17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Planilha_do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Similaridade medida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4285F4"/>
              </a:solidFill>
            </c:spPr>
            <c:extLst>
              <c:ext xmlns:c16="http://schemas.microsoft.com/office/drawing/2014/chart" uri="{C3380CC4-5D6E-409C-BE32-E72D297353CC}">
                <c16:uniqueId val="{00000001-B8AA-3E43-A0ED-6A98824EDA87}"/>
              </c:ext>
            </c:extLst>
          </c:dPt>
          <c:dPt>
            <c:idx val="1"/>
            <c:invertIfNegative val="1"/>
            <c:bubble3D val="0"/>
            <c:spPr>
              <a:solidFill>
                <a:srgbClr val="AECBFA"/>
              </a:solidFill>
            </c:spPr>
            <c:extLst>
              <c:ext xmlns:c16="http://schemas.microsoft.com/office/drawing/2014/chart" uri="{C3380CC4-5D6E-409C-BE32-E72D297353CC}">
                <c16:uniqueId val="{00000003-B8AA-3E43-A0ED-6A98824EDA87}"/>
              </c:ext>
            </c:extLst>
          </c:dPt>
          <c:dPt>
            <c:idx val="2"/>
            <c:invertIfNegative val="1"/>
            <c:bubble3D val="0"/>
            <c:spPr>
              <a:solidFill>
                <a:srgbClr val="AECBFA"/>
              </a:solidFill>
            </c:spPr>
            <c:extLst>
              <c:ext xmlns:c16="http://schemas.microsoft.com/office/drawing/2014/chart" uri="{C3380CC4-5D6E-409C-BE32-E72D297353CC}">
                <c16:uniqueId val="{00000005-B8AA-3E43-A0ED-6A98824EDA87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202124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Paráfrase
(deveria bater)</c:v>
                </c:pt>
                <c:pt idx="1">
                  <c:v>Tema
diferente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0.82499999999999996</c:v>
                </c:pt>
                <c:pt idx="1">
                  <c:v>0.66700000000000004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8AA-3E43-A0ED-6A98824EDA8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ADCE0"/>
            </a:solidFill>
          </a:ln>
        </c:spPr>
        <c:txPr>
          <a:bodyPr/>
          <a:lstStyle/>
          <a:p>
            <a:pPr>
              <a:defRPr sz="9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.5"/>
        </c:scaling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F6368"/>
                </a:solidFill>
              </a:defRPr>
            </a:pPr>
            <a:endParaRPr lang="pt-BR"/>
          </a:p>
        </c:txPr>
        <c:crossAx val="-2068027336"/>
        <c:crosses val="autoZero"/>
        <c:crossBetween val="between"/>
        <c:majorUnit val="0.1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ec5c9284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ec5c92840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9ec5c92840_0_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9ec5c92840_0_4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5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5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5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5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>
  <p:cSld name="BLANK_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39" name="Google Shape;39;p70"/>
          <p:cNvSpPr/>
          <p:nvPr/>
        </p:nvSpPr>
        <p:spPr>
          <a:xfrm>
            <a:off x="6970400" y="1054075"/>
            <a:ext cx="1743900" cy="945600"/>
          </a:xfrm>
          <a:prstGeom prst="roundRect">
            <a:avLst>
              <a:gd name="adj" fmla="val 16667"/>
            </a:avLst>
          </a:prstGeom>
          <a:solidFill>
            <a:srgbClr val="28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70"/>
          <p:cNvSpPr/>
          <p:nvPr/>
        </p:nvSpPr>
        <p:spPr>
          <a:xfrm rot="-5400000">
            <a:off x="6940400" y="1084075"/>
            <a:ext cx="945600" cy="8856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0"/>
          <p:cNvSpPr/>
          <p:nvPr/>
        </p:nvSpPr>
        <p:spPr>
          <a:xfrm>
            <a:off x="5099675" y="1054075"/>
            <a:ext cx="1743900" cy="945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70"/>
          <p:cNvSpPr txBox="1"/>
          <p:nvPr/>
        </p:nvSpPr>
        <p:spPr>
          <a:xfrm>
            <a:off x="405950" y="235275"/>
            <a:ext cx="4566900" cy="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>
                <a:solidFill>
                  <a:schemeClr val="lt1"/>
                </a:solidFill>
                <a:highlight>
                  <a:srgbClr val="FF0000"/>
                </a:highlight>
                <a:latin typeface="Arial"/>
                <a:ea typeface="Arial"/>
                <a:cs typeface="Arial"/>
                <a:sym typeface="Arial"/>
              </a:rPr>
              <a:t>Slide de instrução - deletar após o uso</a:t>
            </a:r>
            <a:endParaRPr sz="2200" b="1" i="0" u="none" strike="noStrike" cap="none">
              <a:solidFill>
                <a:schemeClr val="lt1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70"/>
          <p:cNvSpPr txBox="1"/>
          <p:nvPr/>
        </p:nvSpPr>
        <p:spPr>
          <a:xfrm>
            <a:off x="405950" y="1111725"/>
            <a:ext cx="4566900" cy="1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Escolha um dos modelos ao lado de marca d'água, posicione ele corretamente, seguindo os passos abaixo e depois copie e cole em todos os slides, de acordo com o fundo: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70"/>
          <p:cNvSpPr txBox="1"/>
          <p:nvPr/>
        </p:nvSpPr>
        <p:spPr>
          <a:xfrm>
            <a:off x="5487275" y="431325"/>
            <a:ext cx="9687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Fundo branco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70"/>
          <p:cNvSpPr txBox="1"/>
          <p:nvPr/>
        </p:nvSpPr>
        <p:spPr>
          <a:xfrm>
            <a:off x="6970400" y="431325"/>
            <a:ext cx="17439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Fundo </a:t>
            </a:r>
            <a:b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preto ou azul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0"/>
          <p:cNvSpPr/>
          <p:nvPr/>
        </p:nvSpPr>
        <p:spPr>
          <a:xfrm>
            <a:off x="6970400" y="2887750"/>
            <a:ext cx="1743900" cy="945600"/>
          </a:xfrm>
          <a:prstGeom prst="roundRect">
            <a:avLst>
              <a:gd name="adj" fmla="val 16667"/>
            </a:avLst>
          </a:prstGeom>
          <a:solidFill>
            <a:srgbClr val="28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70"/>
          <p:cNvSpPr/>
          <p:nvPr/>
        </p:nvSpPr>
        <p:spPr>
          <a:xfrm rot="-5400000">
            <a:off x="6940400" y="2917750"/>
            <a:ext cx="945600" cy="8856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70"/>
          <p:cNvSpPr/>
          <p:nvPr/>
        </p:nvSpPr>
        <p:spPr>
          <a:xfrm>
            <a:off x="5099675" y="2887750"/>
            <a:ext cx="1743900" cy="945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70"/>
          <p:cNvSpPr txBox="1"/>
          <p:nvPr/>
        </p:nvSpPr>
        <p:spPr>
          <a:xfrm>
            <a:off x="5487275" y="2265000"/>
            <a:ext cx="9687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Fundo branco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0"/>
          <p:cNvSpPr txBox="1"/>
          <p:nvPr/>
        </p:nvSpPr>
        <p:spPr>
          <a:xfrm>
            <a:off x="6970400" y="2265000"/>
            <a:ext cx="17439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Fundo </a:t>
            </a:r>
            <a:b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preto ou azul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0"/>
          <p:cNvSpPr txBox="1"/>
          <p:nvPr/>
        </p:nvSpPr>
        <p:spPr>
          <a:xfrm>
            <a:off x="244650" y="2693800"/>
            <a:ext cx="19374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 Escolha a marca dagua e clique nela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70"/>
          <p:cNvSpPr txBox="1"/>
          <p:nvPr/>
        </p:nvSpPr>
        <p:spPr>
          <a:xfrm>
            <a:off x="2401250" y="2693800"/>
            <a:ext cx="24561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 Arraste ela para o canto do slide, desta forma:</a:t>
            </a:r>
            <a:b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(ela fica colada no cantinho mesmo)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" name="Google Shape;53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4650" y="3364778"/>
            <a:ext cx="1821975" cy="14812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4" name="Google Shape;5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8963" y="3790706"/>
            <a:ext cx="1821975" cy="108543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5" name="Google Shape;55;p70"/>
          <p:cNvSpPr txBox="1"/>
          <p:nvPr/>
        </p:nvSpPr>
        <p:spPr>
          <a:xfrm>
            <a:off x="4627025" y="3985425"/>
            <a:ext cx="24561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Copie e cole em todos os slides, e troque a marca dagua escolhida de acordo com a cor do fundo,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70"/>
          <p:cNvCxnSpPr>
            <a:endCxn id="50" idx="3"/>
          </p:cNvCxnSpPr>
          <p:nvPr/>
        </p:nvCxnSpPr>
        <p:spPr>
          <a:xfrm rot="-5400000">
            <a:off x="6957800" y="2701800"/>
            <a:ext cx="1881900" cy="1631100"/>
          </a:xfrm>
          <a:prstGeom prst="bentConnector4">
            <a:avLst>
              <a:gd name="adj1" fmla="val 41726"/>
              <a:gd name="adj2" fmla="val 114599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7" name="Google Shape;57;p70"/>
          <p:cNvSpPr/>
          <p:nvPr/>
        </p:nvSpPr>
        <p:spPr>
          <a:xfrm>
            <a:off x="4984350" y="2230400"/>
            <a:ext cx="3729900" cy="680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0"/>
          <p:cNvSpPr/>
          <p:nvPr/>
        </p:nvSpPr>
        <p:spPr>
          <a:xfrm>
            <a:off x="4984350" y="402525"/>
            <a:ext cx="3729900" cy="680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70"/>
          <p:cNvCxnSpPr>
            <a:endCxn id="58" idx="3"/>
          </p:cNvCxnSpPr>
          <p:nvPr/>
        </p:nvCxnSpPr>
        <p:spPr>
          <a:xfrm rot="-5400000">
            <a:off x="6042300" y="1786275"/>
            <a:ext cx="3715500" cy="1628400"/>
          </a:xfrm>
          <a:prstGeom prst="bentConnector4">
            <a:avLst>
              <a:gd name="adj1" fmla="val 45422"/>
              <a:gd name="adj2" fmla="val 114623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3" name="Google Shape;63;p7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4" name="Google Shape;64;p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0" name="Google Shape;70;p7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1" name="Google Shape;71;p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4" name="Google Shape;74;p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7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8" name="Google Shape;78;p7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9" name="Google Shape;79;p7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7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3" name="Google Shape;83;p7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6" name="Google Shape;86;p7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7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8"/>
          <p:cNvSpPr>
            <a:spLocks noGrp="1"/>
          </p:cNvSpPr>
          <p:nvPr>
            <p:ph type="pic" idx="2"/>
          </p:nvPr>
        </p:nvSpPr>
        <p:spPr>
          <a:xfrm>
            <a:off x="4909800" y="-9275"/>
            <a:ext cx="42342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90" name="Google Shape;90;p78"/>
          <p:cNvPicPr preferRelativeResize="0"/>
          <p:nvPr/>
        </p:nvPicPr>
        <p:blipFill rotWithShape="1">
          <a:blip r:embed="rId2">
            <a:alphaModFix/>
          </a:blip>
          <a:srcRect r="19165"/>
          <a:stretch/>
        </p:blipFill>
        <p:spPr>
          <a:xfrm>
            <a:off x="0" y="0"/>
            <a:ext cx="73912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simples">
  <p:cSld name="BLANK_1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9"/>
          <p:cNvSpPr/>
          <p:nvPr/>
        </p:nvSpPr>
        <p:spPr>
          <a:xfrm>
            <a:off x="-3600" y="-51900"/>
            <a:ext cx="9151200" cy="51954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79"/>
          <p:cNvSpPr txBox="1">
            <a:spLocks noGrp="1"/>
          </p:cNvSpPr>
          <p:nvPr>
            <p:ph type="title"/>
          </p:nvPr>
        </p:nvSpPr>
        <p:spPr>
          <a:xfrm>
            <a:off x="571050" y="775250"/>
            <a:ext cx="5069100" cy="10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9pPr>
          </a:lstStyle>
          <a:p>
            <a:endParaRPr/>
          </a:p>
        </p:txBody>
      </p:sp>
      <p:sp>
        <p:nvSpPr>
          <p:cNvPr id="94" name="Google Shape;94;p79"/>
          <p:cNvSpPr txBox="1">
            <a:spLocks noGrp="1"/>
          </p:cNvSpPr>
          <p:nvPr>
            <p:ph type="subTitle" idx="1"/>
          </p:nvPr>
        </p:nvSpPr>
        <p:spPr>
          <a:xfrm>
            <a:off x="571050" y="1895700"/>
            <a:ext cx="5069100" cy="2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-column grid">
  <p:cSld name="6-column grid">
    <p:bg>
      <p:bgPr>
        <a:solidFill>
          <a:srgbClr val="EEEEEE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6"/>
          <p:cNvPicPr preferRelativeResize="0"/>
          <p:nvPr/>
        </p:nvPicPr>
        <p:blipFill rotWithShape="1">
          <a:blip r:embed="rId2">
            <a:alphaModFix/>
          </a:blip>
          <a:srcRect t="3779" r="41314" b="12977"/>
          <a:stretch/>
        </p:blipFill>
        <p:spPr>
          <a:xfrm>
            <a:off x="6134202" y="1"/>
            <a:ext cx="3009799" cy="5143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587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9">
          <p15:clr>
            <a:srgbClr val="FA7B17"/>
          </p15:clr>
        </p15:guide>
        <p15:guide id="2" pos="1968">
          <p15:clr>
            <a:srgbClr val="FA7B17"/>
          </p15:clr>
        </p15:guide>
        <p15:guide id="3" pos="5616">
          <p15:clr>
            <a:srgbClr val="FA7B17"/>
          </p15:clr>
        </p15:guide>
        <p15:guide id="4" pos="5904">
          <p15:clr>
            <a:srgbClr val="FA7B17"/>
          </p15:clr>
        </p15:guide>
        <p15:guide id="5" pos="7436">
          <p15:clr>
            <a:srgbClr val="FA7B17"/>
          </p15:clr>
        </p15:guide>
        <p15:guide id="6" pos="7728">
          <p15:clr>
            <a:srgbClr val="FA7B17"/>
          </p15:clr>
        </p15:guide>
        <p15:guide id="7" pos="9256">
          <p15:clr>
            <a:srgbClr val="FA7B17"/>
          </p15:clr>
        </p15:guide>
        <p15:guide id="8" pos="9552">
          <p15:clr>
            <a:srgbClr val="FA7B17"/>
          </p15:clr>
        </p15:guide>
        <p15:guide id="9" pos="11071">
          <p15:clr>
            <a:srgbClr val="FA7B17"/>
          </p15:clr>
        </p15:guide>
        <p15:guide id="10" orient="horz" pos="449">
          <p15:clr>
            <a:srgbClr val="FA7B17"/>
          </p15:clr>
        </p15:guide>
        <p15:guide id="11" orient="horz" pos="6031">
          <p15:clr>
            <a:srgbClr val="FA7B17"/>
          </p15:clr>
        </p15:guide>
        <p15:guide id="12" pos="2264">
          <p15:clr>
            <a:srgbClr val="FA7B17"/>
          </p15:clr>
        </p15:guide>
        <p15:guide id="13" pos="3792">
          <p15:clr>
            <a:srgbClr val="FA7B17"/>
          </p15:clr>
        </p15:guide>
        <p15:guide id="14" pos="4084">
          <p15:clr>
            <a:srgbClr val="FA7B17"/>
          </p15:clr>
        </p15:guide>
        <p15:guide id="15" orient="horz" pos="908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: 1 item, right">
  <p:cSld name="Content: 1 item, righ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 txBox="1">
            <a:spLocks noGrp="1"/>
          </p:cNvSpPr>
          <p:nvPr>
            <p:ph type="subTitle" idx="1"/>
          </p:nvPr>
        </p:nvSpPr>
        <p:spPr>
          <a:xfrm>
            <a:off x="4686300" y="2240275"/>
            <a:ext cx="3175800" cy="12676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Google Sans Text"/>
              <a:buNone/>
              <a:defRPr sz="999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defRPr>
            </a:lvl1pPr>
            <a:lvl2pPr lvl="1" rtl="0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Google Sans Text"/>
              <a:buNone/>
              <a:defRPr sz="999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defRPr>
            </a:lvl2pPr>
            <a:lvl3pPr lvl="2" rtl="0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Google Sans Text"/>
              <a:buNone/>
              <a:defRPr sz="999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defRPr>
            </a:lvl3pPr>
            <a:lvl4pPr lvl="3" rtl="0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Google Sans Text"/>
              <a:buNone/>
              <a:defRPr sz="999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defRPr>
            </a:lvl4pPr>
            <a:lvl5pPr lvl="4" rtl="0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Google Sans Text"/>
              <a:buNone/>
              <a:defRPr sz="999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defRPr>
            </a:lvl5pPr>
            <a:lvl6pPr lvl="5" rtl="0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Google Sans Text"/>
              <a:buNone/>
              <a:defRPr sz="999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defRPr>
            </a:lvl6pPr>
            <a:lvl7pPr lvl="6" rtl="0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Google Sans Text"/>
              <a:buNone/>
              <a:defRPr sz="999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defRPr>
            </a:lvl7pPr>
            <a:lvl8pPr lvl="7" rtl="0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Google Sans Text"/>
              <a:buNone/>
              <a:defRPr sz="999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defRPr>
            </a:lvl8pPr>
            <a:lvl9pPr lvl="8" rtl="0">
              <a:lnSpc>
                <a:spcPct val="115000"/>
              </a:lnSpc>
              <a:spcBef>
                <a:spcPts val="50"/>
              </a:spcBef>
              <a:spcAft>
                <a:spcPts val="50"/>
              </a:spcAft>
              <a:buClr>
                <a:srgbClr val="202124"/>
              </a:buClr>
              <a:buSzPts val="2000"/>
              <a:buFont typeface="Google Sans Text"/>
              <a:buNone/>
              <a:defRPr sz="999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defRPr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subTitle" idx="2"/>
          </p:nvPr>
        </p:nvSpPr>
        <p:spPr>
          <a:xfrm>
            <a:off x="4686300" y="1575813"/>
            <a:ext cx="3539850" cy="48255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Google Sans Medium"/>
              <a:buNone/>
              <a:defRPr sz="2997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50"/>
              </a:spcBef>
              <a:spcAft>
                <a:spcPts val="5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8022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structional: full header">
  <p:cSld name="Instructional: full header">
    <p:bg>
      <p:bgPr>
        <a:solidFill>
          <a:srgbClr val="EEEEEE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9071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: white" type="blank">
  <p:cSld name="Blank slide: white">
    <p:bg>
      <p:bgPr>
        <a:solidFill>
          <a:srgbClr val="EEEEEE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5040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: 1 item, left">
  <p:cSld name="Content: 1 item, lef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>
            <a:spLocks noGrp="1"/>
          </p:cNvSpPr>
          <p:nvPr>
            <p:ph type="subTitle" idx="1"/>
          </p:nvPr>
        </p:nvSpPr>
        <p:spPr>
          <a:xfrm>
            <a:off x="507488" y="2240275"/>
            <a:ext cx="3175800" cy="12676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Google Sans Text"/>
              <a:buNone/>
              <a:defRPr sz="10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defRPr>
            </a:lvl1pPr>
            <a:lvl2pPr lvl="1" rtl="0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Clr>
                <a:srgbClr val="202124"/>
              </a:buClr>
              <a:buSzPts val="2800"/>
              <a:buNone/>
              <a:defRPr>
                <a:solidFill>
                  <a:srgbClr val="202124"/>
                </a:solidFill>
              </a:defRPr>
            </a:lvl2pPr>
            <a:lvl3pPr lvl="2" rtl="0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Clr>
                <a:srgbClr val="202124"/>
              </a:buClr>
              <a:buSzPts val="2800"/>
              <a:buNone/>
              <a:defRPr>
                <a:solidFill>
                  <a:srgbClr val="202124"/>
                </a:solidFill>
              </a:defRPr>
            </a:lvl3pPr>
            <a:lvl4pPr lvl="3" rtl="0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Clr>
                <a:srgbClr val="202124"/>
              </a:buClr>
              <a:buSzPts val="2800"/>
              <a:buNone/>
              <a:defRPr>
                <a:solidFill>
                  <a:srgbClr val="202124"/>
                </a:solidFill>
              </a:defRPr>
            </a:lvl4pPr>
            <a:lvl5pPr lvl="4" rtl="0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Clr>
                <a:srgbClr val="202124"/>
              </a:buClr>
              <a:buSzPts val="2800"/>
              <a:buNone/>
              <a:defRPr>
                <a:solidFill>
                  <a:srgbClr val="202124"/>
                </a:solidFill>
              </a:defRPr>
            </a:lvl5pPr>
            <a:lvl6pPr lvl="5" rtl="0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Clr>
                <a:srgbClr val="202124"/>
              </a:buClr>
              <a:buSzPts val="2800"/>
              <a:buNone/>
              <a:defRPr>
                <a:solidFill>
                  <a:srgbClr val="202124"/>
                </a:solidFill>
              </a:defRPr>
            </a:lvl6pPr>
            <a:lvl7pPr lvl="6" rtl="0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Clr>
                <a:srgbClr val="202124"/>
              </a:buClr>
              <a:buSzPts val="2800"/>
              <a:buNone/>
              <a:defRPr>
                <a:solidFill>
                  <a:srgbClr val="202124"/>
                </a:solidFill>
              </a:defRPr>
            </a:lvl7pPr>
            <a:lvl8pPr lvl="7" rtl="0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Clr>
                <a:srgbClr val="202124"/>
              </a:buClr>
              <a:buSzPts val="2800"/>
              <a:buNone/>
              <a:defRPr>
                <a:solidFill>
                  <a:srgbClr val="202124"/>
                </a:solidFill>
              </a:defRPr>
            </a:lvl8pPr>
            <a:lvl9pPr lvl="8" rtl="0">
              <a:lnSpc>
                <a:spcPct val="115000"/>
              </a:lnSpc>
              <a:spcBef>
                <a:spcPts val="50"/>
              </a:spcBef>
              <a:spcAft>
                <a:spcPts val="50"/>
              </a:spcAft>
              <a:buClr>
                <a:srgbClr val="202124"/>
              </a:buClr>
              <a:buSzPts val="2800"/>
              <a:buNone/>
              <a:defRPr>
                <a:solidFill>
                  <a:srgbClr val="202124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subTitle" idx="2"/>
          </p:nvPr>
        </p:nvSpPr>
        <p:spPr>
          <a:xfrm>
            <a:off x="507488" y="1575813"/>
            <a:ext cx="3539850" cy="48255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Google Sans Medium"/>
              <a:buNone/>
              <a:defRPr sz="30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50"/>
              </a:spcBef>
              <a:spcAft>
                <a:spcPts val="5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1467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bove +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5374448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44" imgH="443" progId="TCLayout.ActiveDocument.1">
                  <p:embed/>
                </p:oleObj>
              </mc:Choice>
              <mc:Fallback>
                <p:oleObj name="think-cell Slide" r:id="rId3" imgW="444" imgH="44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itle 33">
            <a:extLst>
              <a:ext uri="{FF2B5EF4-FFF2-40B4-BE49-F238E27FC236}">
                <a16:creationId xmlns:a16="http://schemas.microsoft.com/office/drawing/2014/main" id="{6EC370E6-EF76-DAF7-A1C3-000687E966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8765" y="418620"/>
            <a:ext cx="8037512" cy="453482"/>
          </a:xfrm>
        </p:spPr>
        <p:txBody>
          <a:bodyPr vert="horz" wrap="square" lIns="0" tIns="45720" rIns="91440" bIns="45720" anchor="t" anchorCtr="0">
            <a:noAutofit/>
          </a:bodyPr>
          <a:lstStyle>
            <a:lvl1pPr marL="0" indent="0" algn="l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1725" b="0" i="0" kern="1200" cap="none" spc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Semibold" panose="020B0703030202060203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lvl="0" indent="0" algn="l" defTabSz="1300976" rtl="0" eaLnBrk="1" latinLnBrk="0" hangingPunct="1">
              <a:lnSpc>
                <a:spcPct val="80000"/>
              </a:lnSpc>
              <a:spcBef>
                <a:spcPts val="0"/>
              </a:spcBef>
              <a:buFont typeface="Arial" charset="0"/>
              <a:buNone/>
            </a:pPr>
            <a:r>
              <a:rPr lang="pt-BR" err="1"/>
              <a:t>Headline</a:t>
            </a:r>
            <a:r>
              <a:rPr lang="pt-BR"/>
              <a:t>: Max 2 </a:t>
            </a:r>
            <a:r>
              <a:rPr lang="pt-BR" err="1"/>
              <a:t>lines</a:t>
            </a:r>
            <a:r>
              <a:rPr lang="pt-BR"/>
              <a:t> </a:t>
            </a:r>
            <a:r>
              <a:rPr lang="pt-BR" err="1"/>
              <a:t>with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so-what</a:t>
            </a:r>
            <a:r>
              <a:rPr lang="pt-BR"/>
              <a:t> / </a:t>
            </a:r>
            <a:r>
              <a:rPr lang="pt-BR" err="1"/>
              <a:t>conclusions</a:t>
            </a:r>
            <a:r>
              <a:rPr lang="pt-BR"/>
              <a:t> </a:t>
            </a:r>
            <a:r>
              <a:rPr lang="pt-BR" err="1"/>
              <a:t>of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slide; in general,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most</a:t>
            </a:r>
            <a:r>
              <a:rPr lang="pt-BR"/>
              <a:t> </a:t>
            </a:r>
            <a:r>
              <a:rPr lang="pt-BR" err="1"/>
              <a:t>important</a:t>
            </a:r>
            <a:r>
              <a:rPr lang="pt-BR"/>
              <a:t> </a:t>
            </a:r>
            <a:r>
              <a:rPr lang="pt-BR" err="1"/>
              <a:t>messages</a:t>
            </a:r>
            <a:r>
              <a:rPr lang="pt-BR"/>
              <a:t> </a:t>
            </a:r>
            <a:r>
              <a:rPr lang="pt-BR" err="1"/>
              <a:t>should</a:t>
            </a:r>
            <a:r>
              <a:rPr lang="pt-BR"/>
              <a:t> </a:t>
            </a:r>
            <a:r>
              <a:rPr lang="pt-BR" err="1"/>
              <a:t>be</a:t>
            </a:r>
            <a:r>
              <a:rPr lang="pt-BR"/>
              <a:t> </a:t>
            </a:r>
            <a:r>
              <a:rPr lang="pt-BR" err="1"/>
              <a:t>here</a:t>
            </a:r>
            <a:endParaRPr lang="pt-BR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41B307F4-4DCC-11B7-FDAE-8691FF2DB4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8765" y="231695"/>
            <a:ext cx="8037512" cy="211985"/>
          </a:xfrm>
          <a:prstGeom prst="rect">
            <a:avLst/>
          </a:prstGeom>
        </p:spPr>
        <p:txBody>
          <a:bodyPr vert="horz" wrap="square" lIns="0" tIns="36000" rIns="144000" bIns="36000" rtlCol="0" anchor="ctr" anchorCtr="0">
            <a:noAutofit/>
          </a:bodyPr>
          <a:lstStyle>
            <a:lvl1pPr marL="0" indent="0" algn="l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1200" b="1" i="0" cap="all" spc="120" baseline="0" noProof="0" dirty="0">
                <a:solidFill>
                  <a:schemeClr val="tx1"/>
                </a:solidFill>
                <a:latin typeface="Graphik" panose="020B0503030202060203" pitchFamily="34" charset="0"/>
                <a:ea typeface="Arial Black" panose="020B0A04020102020204" pitchFamily="34" charset="0"/>
                <a:cs typeface="Arial Black" panose="020B0A04020102020204" pitchFamily="34" charset="0"/>
                <a:sym typeface="Arial Black" panose="020B0A04020102020204" pitchFamily="34" charset="0"/>
              </a:defRPr>
            </a:lvl1pPr>
          </a:lstStyle>
          <a:p>
            <a:pPr lvl="0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Tx/>
            </a:pPr>
            <a:r>
              <a:rPr lang="pt-BR" dirty="0"/>
              <a:t>one liner to contextualize the page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379908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">
  <p:cSld name="3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4"/>
          <p:cNvSpPr/>
          <p:nvPr/>
        </p:nvSpPr>
        <p:spPr>
          <a:xfrm rot="10800000" flipH="1">
            <a:off x="5575354" y="0"/>
            <a:ext cx="3568646" cy="5143500"/>
          </a:xfrm>
          <a:custGeom>
            <a:avLst/>
            <a:gdLst/>
            <a:ahLst/>
            <a:cxnLst/>
            <a:rect l="l" t="t" r="r" b="b"/>
            <a:pathLst>
              <a:path w="4758195" h="6858000" extrusionOk="0">
                <a:moveTo>
                  <a:pt x="732048" y="0"/>
                </a:moveTo>
                <a:lnTo>
                  <a:pt x="4758195" y="0"/>
                </a:lnTo>
                <a:lnTo>
                  <a:pt x="4758195" y="6858000"/>
                </a:lnTo>
                <a:lnTo>
                  <a:pt x="732048" y="6858000"/>
                </a:lnTo>
                <a:lnTo>
                  <a:pt x="660196" y="6699068"/>
                </a:lnTo>
                <a:cubicBezTo>
                  <a:pt x="235080" y="5693980"/>
                  <a:pt x="0" y="4588943"/>
                  <a:pt x="0" y="3429000"/>
                </a:cubicBezTo>
                <a:cubicBezTo>
                  <a:pt x="0" y="2269057"/>
                  <a:pt x="235080" y="1164020"/>
                  <a:pt x="660196" y="158932"/>
                </a:cubicBezTo>
                <a:close/>
              </a:path>
            </a:pathLst>
          </a:custGeom>
          <a:gradFill>
            <a:gsLst>
              <a:gs pos="0">
                <a:srgbClr val="F2F2F2">
                  <a:alpha val="20000"/>
                </a:srgbClr>
              </a:gs>
              <a:gs pos="100000">
                <a:srgbClr val="D8E6FC">
                  <a:alpha val="9803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74"/>
          <p:cNvSpPr txBox="1">
            <a:spLocks noGrp="1"/>
          </p:cNvSpPr>
          <p:nvPr>
            <p:ph type="body" idx="1"/>
          </p:nvPr>
        </p:nvSpPr>
        <p:spPr>
          <a:xfrm>
            <a:off x="429209" y="740951"/>
            <a:ext cx="8190916" cy="46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00" b="1">
                <a:solidFill>
                  <a:schemeClr val="accent4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174"/>
          <p:cNvSpPr txBox="1">
            <a:spLocks noGrp="1"/>
          </p:cNvSpPr>
          <p:nvPr>
            <p:ph type="body" idx="2"/>
          </p:nvPr>
        </p:nvSpPr>
        <p:spPr>
          <a:xfrm>
            <a:off x="429209" y="1338345"/>
            <a:ext cx="8190915" cy="3228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sz="12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0564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bove +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5374448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44" imgH="443" progId="TCLayout.ActiveDocument.1">
                  <p:embed/>
                </p:oleObj>
              </mc:Choice>
              <mc:Fallback>
                <p:oleObj name="think-cell Slide" r:id="rId3" imgW="444" imgH="44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B0F6641-2888-53F6-FF20-399AD528D7D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0042" y="4881254"/>
            <a:ext cx="6209262" cy="176689"/>
          </a:xfrm>
          <a:prstGeom prst="rect">
            <a:avLst/>
          </a:prstGeom>
        </p:spPr>
        <p:txBody>
          <a:bodyPr lIns="0" tIns="0" rIns="0" bIns="0" anchor="ctr"/>
          <a:lstStyle>
            <a:lvl1pPr>
              <a:spcBef>
                <a:spcPts val="0"/>
              </a:spcBef>
              <a:defRPr sz="675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>
              <a:defRPr sz="1000">
                <a:latin typeface="+mn-lt"/>
              </a:defRPr>
            </a:lvl2pPr>
            <a:lvl3pPr>
              <a:defRPr sz="1000">
                <a:latin typeface="+mn-lt"/>
              </a:defRPr>
            </a:lvl3pPr>
            <a:lvl4pPr>
              <a:defRPr sz="1000">
                <a:latin typeface="+mn-lt"/>
              </a:defRPr>
            </a:lvl4pPr>
            <a:lvl5pPr>
              <a:defRPr sz="1000">
                <a:latin typeface="+mn-lt"/>
              </a:defRPr>
            </a:lvl5pPr>
          </a:lstStyle>
          <a:p>
            <a:pPr lvl="0"/>
            <a:r>
              <a:rPr lang="pt-BR" err="1"/>
              <a:t>Source</a:t>
            </a:r>
            <a:r>
              <a:rPr lang="pt-BR"/>
              <a:t>: TBD; Notes: TBD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6EC370E6-EF76-DAF7-A1C3-000687E966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8764" y="418620"/>
            <a:ext cx="8037512" cy="453482"/>
          </a:xfrm>
        </p:spPr>
        <p:txBody>
          <a:bodyPr vert="horz" wrap="square" lIns="0" tIns="45720" rIns="91440" bIns="45720" anchor="t" anchorCtr="0">
            <a:noAutofit/>
          </a:bodyPr>
          <a:lstStyle>
            <a:lvl1pPr marL="0" indent="0" algn="l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1725" b="0" i="0" kern="1200" cap="none" spc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Semibold" panose="020B0703030202060203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lvl="0" indent="0" algn="l" defTabSz="1300976" rtl="0" eaLnBrk="1" latinLnBrk="0" hangingPunct="1">
              <a:lnSpc>
                <a:spcPct val="80000"/>
              </a:lnSpc>
              <a:spcBef>
                <a:spcPts val="0"/>
              </a:spcBef>
              <a:buFont typeface="Arial" charset="0"/>
              <a:buNone/>
            </a:pPr>
            <a:r>
              <a:rPr lang="pt-BR" err="1"/>
              <a:t>Headline</a:t>
            </a:r>
            <a:r>
              <a:rPr lang="pt-BR"/>
              <a:t>: Max 2 </a:t>
            </a:r>
            <a:r>
              <a:rPr lang="pt-BR" err="1"/>
              <a:t>lines</a:t>
            </a:r>
            <a:r>
              <a:rPr lang="pt-BR"/>
              <a:t> </a:t>
            </a:r>
            <a:r>
              <a:rPr lang="pt-BR" err="1"/>
              <a:t>with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so-what</a:t>
            </a:r>
            <a:r>
              <a:rPr lang="pt-BR"/>
              <a:t> / </a:t>
            </a:r>
            <a:r>
              <a:rPr lang="pt-BR" err="1"/>
              <a:t>conclusions</a:t>
            </a:r>
            <a:r>
              <a:rPr lang="pt-BR"/>
              <a:t> </a:t>
            </a:r>
            <a:r>
              <a:rPr lang="pt-BR" err="1"/>
              <a:t>of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slide; in general,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most</a:t>
            </a:r>
            <a:r>
              <a:rPr lang="pt-BR"/>
              <a:t> </a:t>
            </a:r>
            <a:r>
              <a:rPr lang="pt-BR" err="1"/>
              <a:t>important</a:t>
            </a:r>
            <a:r>
              <a:rPr lang="pt-BR"/>
              <a:t> </a:t>
            </a:r>
            <a:r>
              <a:rPr lang="pt-BR" err="1"/>
              <a:t>messages</a:t>
            </a:r>
            <a:r>
              <a:rPr lang="pt-BR"/>
              <a:t> </a:t>
            </a:r>
            <a:r>
              <a:rPr lang="pt-BR" err="1"/>
              <a:t>should</a:t>
            </a:r>
            <a:r>
              <a:rPr lang="pt-BR"/>
              <a:t> </a:t>
            </a:r>
            <a:r>
              <a:rPr lang="pt-BR" err="1"/>
              <a:t>be</a:t>
            </a:r>
            <a:r>
              <a:rPr lang="pt-BR"/>
              <a:t> </a:t>
            </a:r>
            <a:r>
              <a:rPr lang="pt-BR" err="1"/>
              <a:t>here</a:t>
            </a:r>
            <a:endParaRPr lang="pt-BR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41B307F4-4DCC-11B7-FDAE-8691FF2DB4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8764" y="231695"/>
            <a:ext cx="8037512" cy="211985"/>
          </a:xfrm>
          <a:prstGeom prst="rect">
            <a:avLst/>
          </a:prstGeom>
        </p:spPr>
        <p:txBody>
          <a:bodyPr vert="horz" wrap="square" lIns="0" tIns="36000" rIns="144000" bIns="36000" rtlCol="0" anchor="ctr" anchorCtr="0">
            <a:noAutofit/>
          </a:bodyPr>
          <a:lstStyle>
            <a:lvl1pPr marL="0" indent="0" algn="l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1200" b="1" i="0" cap="all" spc="120" baseline="0" noProof="0" dirty="0">
                <a:solidFill>
                  <a:schemeClr val="tx2">
                    <a:lumMod val="50000"/>
                    <a:lumOff val="50000"/>
                  </a:schemeClr>
                </a:solidFill>
                <a:latin typeface="Graphik" panose="020B0503030202060203" pitchFamily="34" charset="0"/>
                <a:ea typeface="Arial Black" panose="020B0A04020102020204" pitchFamily="34" charset="0"/>
                <a:cs typeface="Arial Black" panose="020B0A04020102020204" pitchFamily="34" charset="0"/>
                <a:sym typeface="Arial Black" panose="020B0A04020102020204" pitchFamily="34" charset="0"/>
              </a:defRPr>
            </a:lvl1pPr>
          </a:lstStyle>
          <a:p>
            <a:pPr lvl="0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Tx/>
            </a:pPr>
            <a:r>
              <a:rPr lang="pt-BR" err="1"/>
              <a:t>one</a:t>
            </a:r>
            <a:r>
              <a:rPr lang="pt-BR"/>
              <a:t> </a:t>
            </a:r>
            <a:r>
              <a:rPr lang="pt-BR" err="1"/>
              <a:t>liner</a:t>
            </a:r>
            <a:r>
              <a:rPr lang="pt-BR"/>
              <a:t> </a:t>
            </a:r>
            <a:r>
              <a:rPr lang="pt-BR" err="1"/>
              <a:t>to</a:t>
            </a:r>
            <a:r>
              <a:rPr lang="pt-BR"/>
              <a:t> contextualize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page</a:t>
            </a:r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883952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bove +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5374448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44" imgH="443" progId="TCLayout.ActiveDocument.1">
                  <p:embed/>
                </p:oleObj>
              </mc:Choice>
              <mc:Fallback>
                <p:oleObj name="think-cell Slide" r:id="rId3" imgW="444" imgH="44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B0F6641-2888-53F6-FF20-399AD528D7D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0042" y="4881254"/>
            <a:ext cx="6209262" cy="176689"/>
          </a:xfrm>
          <a:prstGeom prst="rect">
            <a:avLst/>
          </a:prstGeom>
        </p:spPr>
        <p:txBody>
          <a:bodyPr lIns="0" tIns="0" rIns="0" bIns="0" anchor="ctr"/>
          <a:lstStyle>
            <a:lvl1pPr>
              <a:spcBef>
                <a:spcPts val="0"/>
              </a:spcBef>
              <a:defRPr sz="675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>
              <a:defRPr sz="1000">
                <a:latin typeface="+mn-lt"/>
              </a:defRPr>
            </a:lvl2pPr>
            <a:lvl3pPr>
              <a:defRPr sz="1000">
                <a:latin typeface="+mn-lt"/>
              </a:defRPr>
            </a:lvl3pPr>
            <a:lvl4pPr>
              <a:defRPr sz="1000">
                <a:latin typeface="+mn-lt"/>
              </a:defRPr>
            </a:lvl4pPr>
            <a:lvl5pPr>
              <a:defRPr sz="1000">
                <a:latin typeface="+mn-lt"/>
              </a:defRPr>
            </a:lvl5pPr>
          </a:lstStyle>
          <a:p>
            <a:pPr lvl="0"/>
            <a:r>
              <a:rPr lang="pt-BR" err="1"/>
              <a:t>Source</a:t>
            </a:r>
            <a:r>
              <a:rPr lang="pt-BR"/>
              <a:t>: TBD; Notes: TBD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6EC370E6-EF76-DAF7-A1C3-000687E966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8764" y="418620"/>
            <a:ext cx="8037512" cy="453482"/>
          </a:xfrm>
        </p:spPr>
        <p:txBody>
          <a:bodyPr vert="horz" wrap="square" lIns="0" tIns="45720" rIns="91440" bIns="45720" anchor="t" anchorCtr="0">
            <a:noAutofit/>
          </a:bodyPr>
          <a:lstStyle>
            <a:lvl1pPr marL="0" indent="0" algn="l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1725" b="0" i="0" kern="1200" cap="none" spc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Semibold" panose="020B0703030202060203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lvl="0" indent="0" algn="l" defTabSz="1300976" rtl="0" eaLnBrk="1" latinLnBrk="0" hangingPunct="1">
              <a:lnSpc>
                <a:spcPct val="80000"/>
              </a:lnSpc>
              <a:spcBef>
                <a:spcPts val="0"/>
              </a:spcBef>
              <a:buFont typeface="Arial" charset="0"/>
              <a:buNone/>
            </a:pPr>
            <a:r>
              <a:rPr lang="pt-BR" err="1"/>
              <a:t>Headline</a:t>
            </a:r>
            <a:r>
              <a:rPr lang="pt-BR"/>
              <a:t>: Max 2 </a:t>
            </a:r>
            <a:r>
              <a:rPr lang="pt-BR" err="1"/>
              <a:t>lines</a:t>
            </a:r>
            <a:r>
              <a:rPr lang="pt-BR"/>
              <a:t> </a:t>
            </a:r>
            <a:r>
              <a:rPr lang="pt-BR" err="1"/>
              <a:t>with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so-what</a:t>
            </a:r>
            <a:r>
              <a:rPr lang="pt-BR"/>
              <a:t> / </a:t>
            </a:r>
            <a:r>
              <a:rPr lang="pt-BR" err="1"/>
              <a:t>conclusions</a:t>
            </a:r>
            <a:r>
              <a:rPr lang="pt-BR"/>
              <a:t> </a:t>
            </a:r>
            <a:r>
              <a:rPr lang="pt-BR" err="1"/>
              <a:t>of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slide; in general,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most</a:t>
            </a:r>
            <a:r>
              <a:rPr lang="pt-BR"/>
              <a:t> </a:t>
            </a:r>
            <a:r>
              <a:rPr lang="pt-BR" err="1"/>
              <a:t>important</a:t>
            </a:r>
            <a:r>
              <a:rPr lang="pt-BR"/>
              <a:t> </a:t>
            </a:r>
            <a:r>
              <a:rPr lang="pt-BR" err="1"/>
              <a:t>messages</a:t>
            </a:r>
            <a:r>
              <a:rPr lang="pt-BR"/>
              <a:t> </a:t>
            </a:r>
            <a:r>
              <a:rPr lang="pt-BR" err="1"/>
              <a:t>should</a:t>
            </a:r>
            <a:r>
              <a:rPr lang="pt-BR"/>
              <a:t> </a:t>
            </a:r>
            <a:r>
              <a:rPr lang="pt-BR" err="1"/>
              <a:t>be</a:t>
            </a:r>
            <a:r>
              <a:rPr lang="pt-BR"/>
              <a:t> </a:t>
            </a:r>
            <a:r>
              <a:rPr lang="pt-BR" err="1"/>
              <a:t>here</a:t>
            </a:r>
            <a:endParaRPr lang="pt-BR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41B307F4-4DCC-11B7-FDAE-8691FF2DB4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8764" y="231695"/>
            <a:ext cx="8037512" cy="211985"/>
          </a:xfrm>
          <a:prstGeom prst="rect">
            <a:avLst/>
          </a:prstGeom>
        </p:spPr>
        <p:txBody>
          <a:bodyPr vert="horz" wrap="square" lIns="0" tIns="36000" rIns="144000" bIns="36000" rtlCol="0" anchor="ctr" anchorCtr="0">
            <a:noAutofit/>
          </a:bodyPr>
          <a:lstStyle>
            <a:lvl1pPr marL="0" indent="0" algn="l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1200" b="1" i="0" cap="all" spc="120" baseline="0" noProof="0" dirty="0">
                <a:solidFill>
                  <a:schemeClr val="tx2">
                    <a:lumMod val="50000"/>
                    <a:lumOff val="50000"/>
                  </a:schemeClr>
                </a:solidFill>
                <a:latin typeface="Graphik" panose="020B0503030202060203" pitchFamily="34" charset="0"/>
                <a:ea typeface="Arial Black" panose="020B0A04020102020204" pitchFamily="34" charset="0"/>
                <a:cs typeface="Arial Black" panose="020B0A04020102020204" pitchFamily="34" charset="0"/>
                <a:sym typeface="Arial Black" panose="020B0A04020102020204" pitchFamily="34" charset="0"/>
              </a:defRPr>
            </a:lvl1pPr>
          </a:lstStyle>
          <a:p>
            <a:pPr lvl="0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Tx/>
            </a:pPr>
            <a:r>
              <a:rPr lang="pt-BR" err="1"/>
              <a:t>one</a:t>
            </a:r>
            <a:r>
              <a:rPr lang="pt-BR"/>
              <a:t> </a:t>
            </a:r>
            <a:r>
              <a:rPr lang="pt-BR" err="1"/>
              <a:t>liner</a:t>
            </a:r>
            <a:r>
              <a:rPr lang="pt-BR"/>
              <a:t> </a:t>
            </a:r>
            <a:r>
              <a:rPr lang="pt-BR" err="1"/>
              <a:t>to</a:t>
            </a:r>
            <a:r>
              <a:rPr lang="pt-BR"/>
              <a:t> contextualize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page</a:t>
            </a:r>
            <a:endParaRPr lang="pt-BR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7E29D-3E41-CAE4-962F-9848354FF007}"/>
              </a:ext>
            </a:extLst>
          </p:cNvPr>
          <p:cNvSpPr txBox="1"/>
          <p:nvPr userDrawn="1"/>
        </p:nvSpPr>
        <p:spPr>
          <a:xfrm>
            <a:off x="8572500" y="4897512"/>
            <a:ext cx="285750" cy="15433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defTabSz="171450">
              <a:spcAft>
                <a:spcPts val="900"/>
              </a:spcAft>
              <a:defRPr/>
            </a:pPr>
            <a:fld id="{8A1971D9-5B62-3C46-9EC9-FDAAB88557B2}" type="slidenum">
              <a:rPr lang="pt-BR" sz="600" smtClean="0">
                <a:solidFill>
                  <a:prstClr val="black">
                    <a:alpha val="75000"/>
                  </a:prstClr>
                </a:solidFill>
                <a:latin typeface="Graphik"/>
              </a:rPr>
              <a:pPr algn="r" defTabSz="171450">
                <a:spcAft>
                  <a:spcPts val="900"/>
                </a:spcAft>
                <a:defRPr/>
              </a:pPr>
              <a:t>‹nº›</a:t>
            </a:fld>
            <a:endParaRPr lang="pt-BR" sz="1050" dirty="0">
              <a:solidFill>
                <a:prstClr val="black">
                  <a:alpha val="75000"/>
                </a:prstClr>
              </a:solidFill>
              <a:latin typeface="Graphik"/>
            </a:endParaRPr>
          </a:p>
        </p:txBody>
      </p:sp>
    </p:spTree>
    <p:extLst>
      <p:ext uri="{BB962C8B-B14F-4D97-AF65-F5344CB8AC3E}">
        <p14:creationId xmlns:p14="http://schemas.microsoft.com/office/powerpoint/2010/main" val="734559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bove +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5374448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44" imgH="443" progId="TCLayout.ActiveDocument.1">
                  <p:embed/>
                </p:oleObj>
              </mc:Choice>
              <mc:Fallback>
                <p:oleObj name="think-cell Slide" r:id="rId3" imgW="444" imgH="44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B0F6641-2888-53F6-FF20-399AD528D7D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0042" y="4881254"/>
            <a:ext cx="6209262" cy="176689"/>
          </a:xfrm>
          <a:prstGeom prst="rect">
            <a:avLst/>
          </a:prstGeom>
        </p:spPr>
        <p:txBody>
          <a:bodyPr lIns="0" tIns="0" rIns="0" bIns="0" anchor="ctr"/>
          <a:lstStyle>
            <a:lvl1pPr>
              <a:spcBef>
                <a:spcPts val="0"/>
              </a:spcBef>
              <a:defRPr sz="675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>
              <a:defRPr sz="1000">
                <a:latin typeface="+mn-lt"/>
              </a:defRPr>
            </a:lvl2pPr>
            <a:lvl3pPr>
              <a:defRPr sz="1000">
                <a:latin typeface="+mn-lt"/>
              </a:defRPr>
            </a:lvl3pPr>
            <a:lvl4pPr>
              <a:defRPr sz="1000">
                <a:latin typeface="+mn-lt"/>
              </a:defRPr>
            </a:lvl4pPr>
            <a:lvl5pPr>
              <a:defRPr sz="1000">
                <a:latin typeface="+mn-lt"/>
              </a:defRPr>
            </a:lvl5pPr>
          </a:lstStyle>
          <a:p>
            <a:pPr lvl="0"/>
            <a:r>
              <a:rPr lang="pt-BR" err="1"/>
              <a:t>Source</a:t>
            </a:r>
            <a:r>
              <a:rPr lang="pt-BR"/>
              <a:t>: TBD; Notes: TBD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6EC370E6-EF76-DAF7-A1C3-000687E966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8764" y="418620"/>
            <a:ext cx="8037512" cy="453482"/>
          </a:xfrm>
        </p:spPr>
        <p:txBody>
          <a:bodyPr vert="horz" wrap="square" lIns="0" tIns="45720" rIns="91440" bIns="45720" anchor="t" anchorCtr="0">
            <a:noAutofit/>
          </a:bodyPr>
          <a:lstStyle>
            <a:lvl1pPr marL="0" indent="0" algn="l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1725" b="0" i="0" kern="1200" cap="none" spc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Semibold" panose="020B0703030202060203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lvl="0" indent="0" algn="l" defTabSz="1300976" rtl="0" eaLnBrk="1" latinLnBrk="0" hangingPunct="1">
              <a:lnSpc>
                <a:spcPct val="80000"/>
              </a:lnSpc>
              <a:spcBef>
                <a:spcPts val="0"/>
              </a:spcBef>
              <a:buFont typeface="Arial" charset="0"/>
              <a:buNone/>
            </a:pPr>
            <a:r>
              <a:rPr lang="pt-BR" err="1"/>
              <a:t>Headline</a:t>
            </a:r>
            <a:r>
              <a:rPr lang="pt-BR"/>
              <a:t>: Max 2 </a:t>
            </a:r>
            <a:r>
              <a:rPr lang="pt-BR" err="1"/>
              <a:t>lines</a:t>
            </a:r>
            <a:r>
              <a:rPr lang="pt-BR"/>
              <a:t> </a:t>
            </a:r>
            <a:r>
              <a:rPr lang="pt-BR" err="1"/>
              <a:t>with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so-what</a:t>
            </a:r>
            <a:r>
              <a:rPr lang="pt-BR"/>
              <a:t> / </a:t>
            </a:r>
            <a:r>
              <a:rPr lang="pt-BR" err="1"/>
              <a:t>conclusions</a:t>
            </a:r>
            <a:r>
              <a:rPr lang="pt-BR"/>
              <a:t> </a:t>
            </a:r>
            <a:r>
              <a:rPr lang="pt-BR" err="1"/>
              <a:t>of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slide; in general,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most</a:t>
            </a:r>
            <a:r>
              <a:rPr lang="pt-BR"/>
              <a:t> </a:t>
            </a:r>
            <a:r>
              <a:rPr lang="pt-BR" err="1"/>
              <a:t>important</a:t>
            </a:r>
            <a:r>
              <a:rPr lang="pt-BR"/>
              <a:t> </a:t>
            </a:r>
            <a:r>
              <a:rPr lang="pt-BR" err="1"/>
              <a:t>messages</a:t>
            </a:r>
            <a:r>
              <a:rPr lang="pt-BR"/>
              <a:t> </a:t>
            </a:r>
            <a:r>
              <a:rPr lang="pt-BR" err="1"/>
              <a:t>should</a:t>
            </a:r>
            <a:r>
              <a:rPr lang="pt-BR"/>
              <a:t> </a:t>
            </a:r>
            <a:r>
              <a:rPr lang="pt-BR" err="1"/>
              <a:t>be</a:t>
            </a:r>
            <a:r>
              <a:rPr lang="pt-BR"/>
              <a:t> </a:t>
            </a:r>
            <a:r>
              <a:rPr lang="pt-BR" err="1"/>
              <a:t>here</a:t>
            </a:r>
            <a:endParaRPr lang="pt-BR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41B307F4-4DCC-11B7-FDAE-8691FF2DB4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8764" y="231695"/>
            <a:ext cx="8037512" cy="211985"/>
          </a:xfrm>
          <a:prstGeom prst="rect">
            <a:avLst/>
          </a:prstGeom>
        </p:spPr>
        <p:txBody>
          <a:bodyPr vert="horz" wrap="square" lIns="0" tIns="36000" rIns="144000" bIns="36000" rtlCol="0" anchor="ctr" anchorCtr="0">
            <a:noAutofit/>
          </a:bodyPr>
          <a:lstStyle>
            <a:lvl1pPr marL="0" indent="0" algn="l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1200" b="1" i="0" cap="all" spc="120" baseline="0" noProof="0" dirty="0">
                <a:solidFill>
                  <a:schemeClr val="tx2">
                    <a:lumMod val="50000"/>
                    <a:lumOff val="50000"/>
                  </a:schemeClr>
                </a:solidFill>
                <a:latin typeface="Graphik" panose="020B0503030202060203" pitchFamily="34" charset="0"/>
                <a:ea typeface="Arial Black" panose="020B0A04020102020204" pitchFamily="34" charset="0"/>
                <a:cs typeface="Arial Black" panose="020B0A04020102020204" pitchFamily="34" charset="0"/>
                <a:sym typeface="Arial Black" panose="020B0A04020102020204" pitchFamily="34" charset="0"/>
              </a:defRPr>
            </a:lvl1pPr>
          </a:lstStyle>
          <a:p>
            <a:pPr lvl="0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Tx/>
            </a:pPr>
            <a:r>
              <a:rPr lang="pt-BR" err="1"/>
              <a:t>one</a:t>
            </a:r>
            <a:r>
              <a:rPr lang="pt-BR"/>
              <a:t> </a:t>
            </a:r>
            <a:r>
              <a:rPr lang="pt-BR" err="1"/>
              <a:t>liner</a:t>
            </a:r>
            <a:r>
              <a:rPr lang="pt-BR"/>
              <a:t> </a:t>
            </a:r>
            <a:r>
              <a:rPr lang="pt-BR" err="1"/>
              <a:t>to</a:t>
            </a:r>
            <a:r>
              <a:rPr lang="pt-BR"/>
              <a:t> contextualize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page</a:t>
            </a:r>
            <a:endParaRPr lang="pt-BR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7E29D-3E41-CAE4-962F-9848354FF007}"/>
              </a:ext>
            </a:extLst>
          </p:cNvPr>
          <p:cNvSpPr txBox="1"/>
          <p:nvPr userDrawn="1"/>
        </p:nvSpPr>
        <p:spPr>
          <a:xfrm>
            <a:off x="8572500" y="4897512"/>
            <a:ext cx="285750" cy="15433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defTabSz="171450">
              <a:spcAft>
                <a:spcPts val="900"/>
              </a:spcAft>
              <a:defRPr/>
            </a:pPr>
            <a:fld id="{8A1971D9-5B62-3C46-9EC9-FDAAB88557B2}" type="slidenum">
              <a:rPr lang="pt-BR" sz="600" smtClean="0">
                <a:solidFill>
                  <a:prstClr val="black">
                    <a:alpha val="75000"/>
                  </a:prstClr>
                </a:solidFill>
                <a:latin typeface="Graphik"/>
              </a:rPr>
              <a:pPr algn="r" defTabSz="171450">
                <a:spcAft>
                  <a:spcPts val="900"/>
                </a:spcAft>
                <a:defRPr/>
              </a:pPr>
              <a:t>‹nº›</a:t>
            </a:fld>
            <a:endParaRPr lang="pt-BR" sz="1050" dirty="0">
              <a:solidFill>
                <a:prstClr val="black">
                  <a:alpha val="75000"/>
                </a:prstClr>
              </a:solidFill>
              <a:latin typeface="Graphik"/>
            </a:endParaRPr>
          </a:p>
        </p:txBody>
      </p:sp>
    </p:spTree>
    <p:extLst>
      <p:ext uri="{BB962C8B-B14F-4D97-AF65-F5344CB8AC3E}">
        <p14:creationId xmlns:p14="http://schemas.microsoft.com/office/powerpoint/2010/main" val="639895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: Left - headline + 1 paragraph + Image">
  <p:cSld name="CUSTOM_7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6"/>
          <p:cNvSpPr txBox="1">
            <a:spLocks noGrp="1"/>
          </p:cNvSpPr>
          <p:nvPr>
            <p:ph type="title"/>
          </p:nvPr>
        </p:nvSpPr>
        <p:spPr>
          <a:xfrm>
            <a:off x="448963" y="1389888"/>
            <a:ext cx="3668700" cy="856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400"/>
              <a:buFont typeface="Google Sans Medium"/>
              <a:buNone/>
              <a:defRPr sz="2400" b="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6"/>
          <p:cNvSpPr txBox="1">
            <a:spLocks noGrp="1"/>
          </p:cNvSpPr>
          <p:nvPr>
            <p:ph type="subTitle" idx="1"/>
          </p:nvPr>
        </p:nvSpPr>
        <p:spPr>
          <a:xfrm>
            <a:off x="448962" y="2404875"/>
            <a:ext cx="3668700" cy="12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None/>
              <a:defRPr sz="1000">
                <a:solidFill>
                  <a:srgbClr val="20212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None/>
              <a:defRPr>
                <a:solidFill>
                  <a:srgbClr val="20212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None/>
              <a:defRPr>
                <a:solidFill>
                  <a:srgbClr val="20212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None/>
              <a:defRPr>
                <a:solidFill>
                  <a:srgbClr val="20212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None/>
              <a:defRPr>
                <a:solidFill>
                  <a:srgbClr val="20212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None/>
              <a:defRPr>
                <a:solidFill>
                  <a:srgbClr val="20212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None/>
              <a:defRPr>
                <a:solidFill>
                  <a:srgbClr val="20212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None/>
              <a:defRPr>
                <a:solidFill>
                  <a:srgbClr val="20212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None/>
              <a:defRPr>
                <a:solidFill>
                  <a:srgbClr val="202124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36"/>
          <p:cNvSpPr>
            <a:spLocks noGrp="1"/>
          </p:cNvSpPr>
          <p:nvPr>
            <p:ph type="pic" idx="2"/>
          </p:nvPr>
        </p:nvSpPr>
        <p:spPr>
          <a:xfrm>
            <a:off x="4574450" y="357588"/>
            <a:ext cx="4215300" cy="4442700"/>
          </a:xfrm>
          <a:prstGeom prst="roundRect">
            <a:avLst>
              <a:gd name="adj" fmla="val 3632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-column grid">
  <p:cSld name="SECTION_HEADER_1"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25">
          <p15:clr>
            <a:srgbClr val="FA7B17"/>
          </p15:clr>
        </p15:guide>
        <p15:guide id="2" pos="984">
          <p15:clr>
            <a:srgbClr val="FA7B17"/>
          </p15:clr>
        </p15:guide>
        <p15:guide id="3" pos="2808">
          <p15:clr>
            <a:srgbClr val="FA7B17"/>
          </p15:clr>
        </p15:guide>
        <p15:guide id="4" pos="2952">
          <p15:clr>
            <a:srgbClr val="FA7B17"/>
          </p15:clr>
        </p15:guide>
        <p15:guide id="5" pos="3718">
          <p15:clr>
            <a:srgbClr val="FA7B17"/>
          </p15:clr>
        </p15:guide>
        <p15:guide id="6" pos="3864">
          <p15:clr>
            <a:srgbClr val="FA7B17"/>
          </p15:clr>
        </p15:guide>
        <p15:guide id="7" pos="4628">
          <p15:clr>
            <a:srgbClr val="FA7B17"/>
          </p15:clr>
        </p15:guide>
        <p15:guide id="8" pos="4776">
          <p15:clr>
            <a:srgbClr val="FA7B17"/>
          </p15:clr>
        </p15:guide>
        <p15:guide id="9" pos="5535">
          <p15:clr>
            <a:srgbClr val="FA7B17"/>
          </p15:clr>
        </p15:guide>
        <p15:guide id="10" orient="horz" pos="225">
          <p15:clr>
            <a:srgbClr val="FA7B17"/>
          </p15:clr>
        </p15:guide>
        <p15:guide id="11" orient="horz" pos="3015">
          <p15:clr>
            <a:srgbClr val="FA7B17"/>
          </p15:clr>
        </p15:guide>
        <p15:guide id="12" pos="1132">
          <p15:clr>
            <a:srgbClr val="FA7B17"/>
          </p15:clr>
        </p15:guide>
        <p15:guide id="13" pos="1896">
          <p15:clr>
            <a:srgbClr val="FA7B17"/>
          </p15:clr>
        </p15:guide>
        <p15:guide id="14" pos="2042">
          <p15:clr>
            <a:srgbClr val="FA7B17"/>
          </p15:clr>
        </p15:guide>
        <p15:guide id="15" orient="horz" pos="454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8" r:id="rId16"/>
    <p:sldLayoutId id="2147483749" r:id="rId17"/>
    <p:sldLayoutId id="2147483751" r:id="rId18"/>
    <p:sldLayoutId id="2147483753" r:id="rId19"/>
    <p:sldLayoutId id="2147483754" r:id="rId20"/>
    <p:sldLayoutId id="2147483672" r:id="rId21"/>
    <p:sldLayoutId id="2147483673" r:id="rId22"/>
    <p:sldLayoutId id="2147483675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gi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6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6.jpg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768" y="420624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IA Conference Brasil 2026 · Palco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1234440"/>
            <a:ext cx="4937760" cy="2651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1000"/>
              </a:spcAft>
            </a:pPr>
            <a:r>
              <a:rPr sz="5000" dirty="0" err="1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Além</a:t>
            </a:r>
            <a:r>
              <a:rPr sz="5000" dirty="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 dos Loops</a:t>
            </a:r>
          </a:p>
          <a:p>
            <a:pPr algn="l">
              <a:spcAft>
                <a:spcPts val="1000"/>
              </a:spcAft>
            </a:pPr>
            <a:r>
              <a:rPr sz="2000" dirty="0">
                <a:solidFill>
                  <a:srgbClr val="202124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o </a:t>
            </a:r>
            <a:r>
              <a:rPr sz="2000" dirty="0" err="1">
                <a:solidFill>
                  <a:srgbClr val="202124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que</a:t>
            </a:r>
            <a:r>
              <a:rPr sz="2000" dirty="0">
                <a:solidFill>
                  <a:srgbClr val="202124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 </a:t>
            </a:r>
            <a:r>
              <a:rPr sz="2000" dirty="0" err="1">
                <a:solidFill>
                  <a:srgbClr val="202124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aprendemos</a:t>
            </a:r>
            <a:r>
              <a:rPr sz="2000" dirty="0">
                <a:solidFill>
                  <a:srgbClr val="202124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 </a:t>
            </a:r>
            <a:r>
              <a:rPr sz="2000" dirty="0" err="1">
                <a:solidFill>
                  <a:srgbClr val="FF0000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errando</a:t>
            </a:r>
            <a:r>
              <a:rPr sz="2000" dirty="0">
                <a:solidFill>
                  <a:srgbClr val="FF0000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 </a:t>
            </a:r>
            <a:r>
              <a:rPr sz="2000" dirty="0">
                <a:solidFill>
                  <a:srgbClr val="202124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com </a:t>
            </a:r>
            <a:r>
              <a:rPr sz="2000" dirty="0" err="1">
                <a:solidFill>
                  <a:srgbClr val="202124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produtos</a:t>
            </a:r>
            <a:r>
              <a:rPr sz="2000" dirty="0">
                <a:solidFill>
                  <a:srgbClr val="202124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 de </a:t>
            </a:r>
            <a:endParaRPr lang="pt-BR" sz="2000" dirty="0">
              <a:solidFill>
                <a:srgbClr val="202124"/>
              </a:solidFill>
              <a:latin typeface="Google Sans Mono"/>
              <a:ea typeface="Google Sans Mono"/>
              <a:cs typeface="Google Sans Mono"/>
              <a:sym typeface="Google Sans Mono"/>
            </a:endParaRPr>
          </a:p>
          <a:p>
            <a:pPr algn="l">
              <a:spcAft>
                <a:spcPts val="1000"/>
              </a:spcAft>
            </a:pPr>
            <a:r>
              <a:rPr sz="2000" dirty="0">
                <a:solidFill>
                  <a:srgbClr val="202124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IA </a:t>
            </a:r>
            <a:r>
              <a:rPr sz="2000" dirty="0" err="1">
                <a:solidFill>
                  <a:srgbClr val="202124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Agêntica</a:t>
            </a:r>
            <a:endParaRPr sz="2000" dirty="0">
              <a:solidFill>
                <a:srgbClr val="202124"/>
              </a:solidFill>
              <a:latin typeface="Google Sans Mono"/>
              <a:ea typeface="Google Sans Mono"/>
              <a:cs typeface="Google Sans Mono"/>
              <a:sym typeface="Google Sans Mon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9768" y="405993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Lopes, PhD</a:t>
            </a:r>
          </a:p>
        </p:txBody>
      </p:sp>
      <p:sp>
        <p:nvSpPr>
          <p:cNvPr id="5" name="Oval 4"/>
          <p:cNvSpPr/>
          <p:nvPr/>
        </p:nvSpPr>
        <p:spPr>
          <a:xfrm>
            <a:off x="5760720" y="13716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870448" y="1481328"/>
            <a:ext cx="2066543" cy="2066543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1197864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pensar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340864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agir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483864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observar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2340864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repetir?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2103120"/>
            <a:ext cx="1133856" cy="8229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900">
                <a:solidFill>
                  <a:srgbClr val="5F6368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+ contexto</a:t>
            </a:r>
          </a:p>
          <a:p>
            <a:pPr algn="ctr"/>
            <a:r>
              <a:rPr sz="900">
                <a:solidFill>
                  <a:srgbClr val="5F6368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+ verificação</a:t>
            </a:r>
          </a:p>
          <a:p>
            <a:pPr algn="ctr"/>
            <a:r>
              <a:rPr sz="900">
                <a:solidFill>
                  <a:srgbClr val="5F6368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+ limites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416" y="4709160"/>
            <a:ext cx="987552" cy="2468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@ahirtonlopes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9"/>
          <p:cNvSpPr txBox="1"/>
          <p:nvPr/>
        </p:nvSpPr>
        <p:spPr>
          <a:xfrm>
            <a:off x="390797" y="749770"/>
            <a:ext cx="36687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Google Sans Medium"/>
                <a:ea typeface="Google Sans Medium"/>
                <a:cs typeface="Google Sans Medium"/>
                <a:sym typeface="Google Sans Medium"/>
              </a:rPr>
              <a:t>Ahirton Lopes, </a:t>
            </a: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Eng., MSc., PhD.</a:t>
            </a:r>
            <a:endParaRPr sz="17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4" name="Google Shape;214;p49"/>
          <p:cNvSpPr txBox="1"/>
          <p:nvPr/>
        </p:nvSpPr>
        <p:spPr>
          <a:xfrm>
            <a:off x="650000" y="1212350"/>
            <a:ext cx="3722700" cy="17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Data &amp; AI Senior Manager</a:t>
            </a:r>
            <a:r>
              <a:rPr lang="en" sz="900" dirty="0">
                <a:latin typeface="Google Sans"/>
                <a:ea typeface="Google Sans"/>
                <a:cs typeface="Google Sans"/>
                <a:sym typeface="Google Sans"/>
              </a:rPr>
              <a:t>,</a:t>
            </a:r>
            <a:r>
              <a:rPr lang="en" sz="1000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1000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Accenture</a:t>
            </a:r>
            <a:endParaRPr sz="1000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Professor de MBA e Corporate</a:t>
            </a:r>
            <a:r>
              <a:rPr lang="en" sz="1000" dirty="0">
                <a:latin typeface="Google Sans"/>
                <a:ea typeface="Google Sans"/>
                <a:cs typeface="Google Sans"/>
                <a:sym typeface="Google Sans"/>
              </a:rPr>
              <a:t>, </a:t>
            </a:r>
            <a:r>
              <a:rPr lang="en" sz="1000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FIAP</a:t>
            </a:r>
            <a:endParaRPr sz="1000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r>
              <a:rPr lang="en" sz="1200" dirty="0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x Google Developer Expert</a:t>
            </a:r>
            <a:r>
              <a:rPr lang="en" sz="900" dirty="0">
                <a:latin typeface="Google Sans"/>
                <a:ea typeface="Google Sans"/>
                <a:cs typeface="Google Sans"/>
                <a:sym typeface="Google Sans"/>
              </a:rPr>
              <a:t>, </a:t>
            </a:r>
            <a:r>
              <a:rPr lang="en" sz="1000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AI </a:t>
            </a:r>
            <a:endParaRPr sz="1000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latin typeface="Google Sans Medium"/>
                <a:ea typeface="Google Sans Medium"/>
                <a:cs typeface="Google Sans Medium"/>
                <a:sym typeface="Google Sans Medium"/>
              </a:rPr>
              <a:t>7</a:t>
            </a:r>
            <a:r>
              <a:rPr lang="en" sz="1200" dirty="0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x Most Valuable Professional</a:t>
            </a:r>
            <a:r>
              <a:rPr lang="en" sz="1200" dirty="0">
                <a:latin typeface="Google Sans Medium"/>
                <a:ea typeface="Google Sans Medium"/>
                <a:cs typeface="Google Sans Medium"/>
                <a:sym typeface="Google Sans Medium"/>
              </a:rPr>
              <a:t>,</a:t>
            </a:r>
            <a:r>
              <a:rPr lang="en" sz="1300" dirty="0"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r>
              <a:rPr lang="en" sz="1000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AI </a:t>
            </a:r>
            <a:r>
              <a:rPr lang="en" sz="1000" dirty="0">
                <a:latin typeface="Google Sans"/>
                <a:ea typeface="Google Sans"/>
                <a:cs typeface="Google Sans"/>
                <a:sym typeface="Google Sans"/>
              </a:rPr>
              <a:t>Foundry</a:t>
            </a:r>
            <a:r>
              <a:rPr lang="en" sz="1000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@ Microsoft</a:t>
            </a:r>
            <a:endParaRPr sz="1000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LinkedIn Top Voice, Google Developers Advisory Board (</a:t>
            </a:r>
            <a:r>
              <a:rPr lang="en" sz="1200" dirty="0" err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gDAB</a:t>
            </a:r>
            <a:r>
              <a:rPr lang="en" sz="1200" dirty="0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) Member</a:t>
            </a:r>
            <a:endParaRPr sz="1200" dirty="0">
              <a:solidFill>
                <a:srgbClr val="000000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000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None/>
            </a:pPr>
            <a:endParaRPr sz="1000" dirty="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 l="11582" t="4618" b="36252"/>
          <a:stretch/>
        </p:blipFill>
        <p:spPr>
          <a:xfrm>
            <a:off x="4943600" y="768575"/>
            <a:ext cx="3722700" cy="3734700"/>
          </a:xfrm>
          <a:prstGeom prst="roundRect">
            <a:avLst>
              <a:gd name="adj" fmla="val 6253"/>
            </a:avLst>
          </a:prstGeom>
          <a:noFill/>
          <a:ln>
            <a:noFill/>
          </a:ln>
        </p:spPr>
      </p:pic>
      <p:sp>
        <p:nvSpPr>
          <p:cNvPr id="216" name="Google Shape;216;p49"/>
          <p:cNvSpPr/>
          <p:nvPr/>
        </p:nvSpPr>
        <p:spPr>
          <a:xfrm>
            <a:off x="382585" y="1224334"/>
            <a:ext cx="151632" cy="15163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90" y="0"/>
                </a:moveTo>
                <a:cubicBezTo>
                  <a:pt x="4857" y="0"/>
                  <a:pt x="0" y="4841"/>
                  <a:pt x="0" y="10800"/>
                </a:cubicBezTo>
                <a:cubicBezTo>
                  <a:pt x="0" y="16759"/>
                  <a:pt x="4837" y="21600"/>
                  <a:pt x="10790" y="21600"/>
                </a:cubicBezTo>
                <a:cubicBezTo>
                  <a:pt x="16722" y="21600"/>
                  <a:pt x="21600" y="16759"/>
                  <a:pt x="21600" y="10800"/>
                </a:cubicBezTo>
                <a:cubicBezTo>
                  <a:pt x="21600" y="4841"/>
                  <a:pt x="16743" y="0"/>
                  <a:pt x="10790" y="0"/>
                </a:cubicBezTo>
                <a:close/>
                <a:moveTo>
                  <a:pt x="8640" y="16159"/>
                </a:moveTo>
                <a:lnTo>
                  <a:pt x="3224" y="10738"/>
                </a:lnTo>
                <a:lnTo>
                  <a:pt x="4733" y="9207"/>
                </a:lnTo>
                <a:lnTo>
                  <a:pt x="8640" y="13076"/>
                </a:lnTo>
                <a:lnTo>
                  <a:pt x="16867" y="4841"/>
                </a:lnTo>
                <a:lnTo>
                  <a:pt x="18376" y="6352"/>
                </a:lnTo>
                <a:lnTo>
                  <a:pt x="8640" y="16159"/>
                </a:lnTo>
                <a:close/>
              </a:path>
            </a:pathLst>
          </a:custGeom>
          <a:solidFill>
            <a:srgbClr val="20212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200"/>
              <a:buFont typeface="Google Sans"/>
              <a:buNone/>
            </a:pPr>
            <a:endParaRPr sz="2200" b="0" i="0" u="none" strike="noStrike" cap="none">
              <a:solidFill>
                <a:srgbClr val="99999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7" name="Google Shape;217;p49"/>
          <p:cNvSpPr/>
          <p:nvPr/>
        </p:nvSpPr>
        <p:spPr>
          <a:xfrm>
            <a:off x="390801" y="1546805"/>
            <a:ext cx="151632" cy="15163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90" y="0"/>
                </a:moveTo>
                <a:cubicBezTo>
                  <a:pt x="4857" y="0"/>
                  <a:pt x="0" y="4841"/>
                  <a:pt x="0" y="10800"/>
                </a:cubicBezTo>
                <a:cubicBezTo>
                  <a:pt x="0" y="16759"/>
                  <a:pt x="4837" y="21600"/>
                  <a:pt x="10790" y="21600"/>
                </a:cubicBezTo>
                <a:cubicBezTo>
                  <a:pt x="16722" y="21600"/>
                  <a:pt x="21600" y="16759"/>
                  <a:pt x="21600" y="10800"/>
                </a:cubicBezTo>
                <a:cubicBezTo>
                  <a:pt x="21600" y="4841"/>
                  <a:pt x="16743" y="0"/>
                  <a:pt x="10790" y="0"/>
                </a:cubicBezTo>
                <a:close/>
                <a:moveTo>
                  <a:pt x="8640" y="16159"/>
                </a:moveTo>
                <a:lnTo>
                  <a:pt x="3224" y="10738"/>
                </a:lnTo>
                <a:lnTo>
                  <a:pt x="4733" y="9207"/>
                </a:lnTo>
                <a:lnTo>
                  <a:pt x="8640" y="13076"/>
                </a:lnTo>
                <a:lnTo>
                  <a:pt x="16867" y="4841"/>
                </a:lnTo>
                <a:lnTo>
                  <a:pt x="18376" y="6352"/>
                </a:lnTo>
                <a:lnTo>
                  <a:pt x="8640" y="16159"/>
                </a:lnTo>
                <a:close/>
              </a:path>
            </a:pathLst>
          </a:custGeom>
          <a:solidFill>
            <a:srgbClr val="20212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200"/>
              <a:buFont typeface="Google Sans"/>
              <a:buNone/>
            </a:pPr>
            <a:endParaRPr sz="2200" b="0" i="0" u="none" strike="noStrike" cap="none">
              <a:solidFill>
                <a:srgbClr val="99999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8" name="Google Shape;218;p49"/>
          <p:cNvSpPr/>
          <p:nvPr/>
        </p:nvSpPr>
        <p:spPr>
          <a:xfrm>
            <a:off x="390801" y="1858429"/>
            <a:ext cx="151632" cy="15163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90" y="0"/>
                </a:moveTo>
                <a:cubicBezTo>
                  <a:pt x="4857" y="0"/>
                  <a:pt x="0" y="4841"/>
                  <a:pt x="0" y="10800"/>
                </a:cubicBezTo>
                <a:cubicBezTo>
                  <a:pt x="0" y="16759"/>
                  <a:pt x="4837" y="21600"/>
                  <a:pt x="10790" y="21600"/>
                </a:cubicBezTo>
                <a:cubicBezTo>
                  <a:pt x="16722" y="21600"/>
                  <a:pt x="21600" y="16759"/>
                  <a:pt x="21600" y="10800"/>
                </a:cubicBezTo>
                <a:cubicBezTo>
                  <a:pt x="21600" y="4841"/>
                  <a:pt x="16743" y="0"/>
                  <a:pt x="10790" y="0"/>
                </a:cubicBezTo>
                <a:close/>
                <a:moveTo>
                  <a:pt x="8640" y="16159"/>
                </a:moveTo>
                <a:lnTo>
                  <a:pt x="3224" y="10738"/>
                </a:lnTo>
                <a:lnTo>
                  <a:pt x="4733" y="9207"/>
                </a:lnTo>
                <a:lnTo>
                  <a:pt x="8640" y="13076"/>
                </a:lnTo>
                <a:lnTo>
                  <a:pt x="16867" y="4841"/>
                </a:lnTo>
                <a:lnTo>
                  <a:pt x="18376" y="6352"/>
                </a:lnTo>
                <a:lnTo>
                  <a:pt x="8640" y="16159"/>
                </a:lnTo>
                <a:close/>
              </a:path>
            </a:pathLst>
          </a:custGeom>
          <a:solidFill>
            <a:srgbClr val="20212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200"/>
              <a:buFont typeface="Google Sans"/>
              <a:buNone/>
            </a:pPr>
            <a:endParaRPr sz="2200" b="0" i="0" u="none" strike="noStrike" cap="none">
              <a:solidFill>
                <a:srgbClr val="99999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9" name="Google Shape;219;p49"/>
          <p:cNvSpPr/>
          <p:nvPr/>
        </p:nvSpPr>
        <p:spPr>
          <a:xfrm>
            <a:off x="390801" y="2172493"/>
            <a:ext cx="151632" cy="15163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90" y="0"/>
                </a:moveTo>
                <a:cubicBezTo>
                  <a:pt x="4857" y="0"/>
                  <a:pt x="0" y="4841"/>
                  <a:pt x="0" y="10800"/>
                </a:cubicBezTo>
                <a:cubicBezTo>
                  <a:pt x="0" y="16759"/>
                  <a:pt x="4837" y="21600"/>
                  <a:pt x="10790" y="21600"/>
                </a:cubicBezTo>
                <a:cubicBezTo>
                  <a:pt x="16722" y="21600"/>
                  <a:pt x="21600" y="16759"/>
                  <a:pt x="21600" y="10800"/>
                </a:cubicBezTo>
                <a:cubicBezTo>
                  <a:pt x="21600" y="4841"/>
                  <a:pt x="16743" y="0"/>
                  <a:pt x="10790" y="0"/>
                </a:cubicBezTo>
                <a:close/>
                <a:moveTo>
                  <a:pt x="8640" y="16159"/>
                </a:moveTo>
                <a:lnTo>
                  <a:pt x="3224" y="10738"/>
                </a:lnTo>
                <a:lnTo>
                  <a:pt x="4733" y="9207"/>
                </a:lnTo>
                <a:lnTo>
                  <a:pt x="8640" y="13076"/>
                </a:lnTo>
                <a:lnTo>
                  <a:pt x="16867" y="4841"/>
                </a:lnTo>
                <a:lnTo>
                  <a:pt x="18376" y="6352"/>
                </a:lnTo>
                <a:lnTo>
                  <a:pt x="8640" y="16159"/>
                </a:lnTo>
                <a:close/>
              </a:path>
            </a:pathLst>
          </a:custGeom>
          <a:solidFill>
            <a:srgbClr val="20212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200"/>
              <a:buFont typeface="Google Sans"/>
              <a:buNone/>
            </a:pPr>
            <a:endParaRPr sz="2200" b="0" i="0" u="none" strike="noStrike" cap="none">
              <a:solidFill>
                <a:srgbClr val="99999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0" name="Google Shape;220;p49"/>
          <p:cNvSpPr/>
          <p:nvPr/>
        </p:nvSpPr>
        <p:spPr>
          <a:xfrm>
            <a:off x="390801" y="2491409"/>
            <a:ext cx="151632" cy="15163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90" y="0"/>
                </a:moveTo>
                <a:cubicBezTo>
                  <a:pt x="4857" y="0"/>
                  <a:pt x="0" y="4841"/>
                  <a:pt x="0" y="10800"/>
                </a:cubicBezTo>
                <a:cubicBezTo>
                  <a:pt x="0" y="16759"/>
                  <a:pt x="4837" y="21600"/>
                  <a:pt x="10790" y="21600"/>
                </a:cubicBezTo>
                <a:cubicBezTo>
                  <a:pt x="16722" y="21600"/>
                  <a:pt x="21600" y="16759"/>
                  <a:pt x="21600" y="10800"/>
                </a:cubicBezTo>
                <a:cubicBezTo>
                  <a:pt x="21600" y="4841"/>
                  <a:pt x="16743" y="0"/>
                  <a:pt x="10790" y="0"/>
                </a:cubicBezTo>
                <a:close/>
                <a:moveTo>
                  <a:pt x="8640" y="16159"/>
                </a:moveTo>
                <a:lnTo>
                  <a:pt x="3224" y="10738"/>
                </a:lnTo>
                <a:lnTo>
                  <a:pt x="4733" y="9207"/>
                </a:lnTo>
                <a:lnTo>
                  <a:pt x="8640" y="13076"/>
                </a:lnTo>
                <a:lnTo>
                  <a:pt x="16867" y="4841"/>
                </a:lnTo>
                <a:lnTo>
                  <a:pt x="18376" y="6352"/>
                </a:lnTo>
                <a:lnTo>
                  <a:pt x="8640" y="16159"/>
                </a:lnTo>
                <a:close/>
              </a:path>
            </a:pathLst>
          </a:custGeom>
          <a:solidFill>
            <a:srgbClr val="20212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200"/>
              <a:buFont typeface="Google Sans"/>
              <a:buNone/>
            </a:pPr>
            <a:endParaRPr sz="2200" b="0" i="0" u="none" strike="noStrike" cap="none">
              <a:solidFill>
                <a:srgbClr val="99999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1" name="Google Shape;221;p49"/>
          <p:cNvSpPr/>
          <p:nvPr/>
        </p:nvSpPr>
        <p:spPr>
          <a:xfrm>
            <a:off x="390800" y="3099750"/>
            <a:ext cx="3668700" cy="1158600"/>
          </a:xfrm>
          <a:prstGeom prst="roundRect">
            <a:avLst>
              <a:gd name="adj" fmla="val 9344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2" name="Google Shape;222;p49"/>
          <p:cNvSpPr txBox="1"/>
          <p:nvPr/>
        </p:nvSpPr>
        <p:spPr>
          <a:xfrm>
            <a:off x="558858" y="3209700"/>
            <a:ext cx="3278100" cy="7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Doutor em Engenharia Elétrica e Computação pela Universidade Presbiteriana Mackenzie (UPM)</a:t>
            </a:r>
            <a:endParaRPr sz="110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Pesquisador em Machine e Deep Learning</a:t>
            </a:r>
            <a:endParaRPr sz="110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23" name="Google Shape;223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550" y="4023801"/>
            <a:ext cx="1512015" cy="53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38842" y="4023801"/>
            <a:ext cx="1306800" cy="537000"/>
          </a:xfrm>
          <a:prstGeom prst="roundRect">
            <a:avLst>
              <a:gd name="adj" fmla="val 9713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56616" y="274320"/>
            <a:ext cx="2263140" cy="256032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 loop (very short version)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" y="65836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Um agente cabe em 10 linhas. Um produto, não.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0416" y="4709160"/>
            <a:ext cx="987552" cy="2468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@ahirtonlopes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" y="1325880"/>
            <a:ext cx="4572000" cy="2331720"/>
          </a:xfrm>
          <a:prstGeom prst="roundRect">
            <a:avLst>
              <a:gd name="adj" fmla="val 4000"/>
            </a:avLst>
          </a:prstGeom>
          <a:solidFill>
            <a:srgbClr val="202124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496" y="1463039"/>
            <a:ext cx="4206240" cy="2057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sz="1050">
                <a:solidFill>
                  <a:srgbClr val="9AA0A6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# ReAct: raciocinar + agir (Yao et al., ICLR 2023)</a:t>
            </a:r>
          </a:p>
          <a:p>
            <a:pPr algn="l">
              <a:spcAft>
                <a:spcPts val="100"/>
              </a:spcAft>
            </a:pPr>
            <a:r>
              <a:rPr sz="1050">
                <a:solidFill>
                  <a:srgbClr val="8AB4F8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while not done:</a:t>
            </a:r>
          </a:p>
          <a:p>
            <a:pPr algn="l">
              <a:spcAft>
                <a:spcPts val="100"/>
              </a:spcAft>
            </a:pPr>
            <a:r>
              <a:rPr sz="1050">
                <a:solidFill>
                  <a:srgbClr val="E8EAED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    thought = llm(context)</a:t>
            </a:r>
          </a:p>
          <a:p>
            <a:pPr algn="l">
              <a:spcAft>
                <a:spcPts val="100"/>
              </a:spcAft>
            </a:pPr>
            <a:r>
              <a:rPr sz="1050">
                <a:solidFill>
                  <a:srgbClr val="E8EAED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    action  = parse(thought)</a:t>
            </a:r>
          </a:p>
          <a:p>
            <a:pPr algn="l">
              <a:spcAft>
                <a:spcPts val="100"/>
              </a:spcAft>
            </a:pPr>
            <a:r>
              <a:rPr sz="1050">
                <a:solidFill>
                  <a:srgbClr val="E8EAED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    obs     = tools[action.name](**action.args)</a:t>
            </a:r>
          </a:p>
          <a:p>
            <a:pPr algn="l">
              <a:spcAft>
                <a:spcPts val="100"/>
              </a:spcAft>
            </a:pPr>
            <a:r>
              <a:rPr sz="1050">
                <a:solidFill>
                  <a:srgbClr val="E8EAED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    context += [thought, action, obs]</a:t>
            </a:r>
          </a:p>
          <a:p>
            <a:pPr algn="l">
              <a:spcAft>
                <a:spcPts val="100"/>
              </a:spcAft>
            </a:pPr>
            <a:endParaRPr sz="1050">
              <a:solidFill>
                <a:srgbClr val="E8EAED"/>
              </a:solidFill>
              <a:latin typeface="Google Sans Mono"/>
              <a:ea typeface="Google Sans Mono"/>
              <a:cs typeface="Google Sans Mono"/>
              <a:sym typeface="Google Sans Mono"/>
            </a:endParaRPr>
          </a:p>
          <a:p>
            <a:pPr algn="l">
              <a:spcAft>
                <a:spcPts val="100"/>
              </a:spcAft>
            </a:pPr>
            <a:r>
              <a:rPr sz="1050">
                <a:solidFill>
                  <a:srgbClr val="9AA0A6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# "Ralph loop": rodar o agente até acabar</a:t>
            </a:r>
          </a:p>
          <a:p>
            <a:pPr algn="l">
              <a:spcAft>
                <a:spcPts val="100"/>
              </a:spcAft>
            </a:pPr>
            <a:r>
              <a:rPr sz="1050">
                <a:solidFill>
                  <a:srgbClr val="F28B82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while :; do cat PROMPT.md | agent ;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379476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O código do loop é a parte fácil. </a:t>
            </a:r>
            <a:r>
              <a:rPr sz="110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Em 2026, o horizonte de tarefa dos agentes dobra a cada ~3 meses (METR): loops mais longos, mais lugares pra errar.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3258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 que o hype não mostra</a:t>
            </a:r>
          </a:p>
        </p:txBody>
      </p:sp>
      <p:sp>
        <p:nvSpPr>
          <p:cNvPr id="9" name="Oval 8"/>
          <p:cNvSpPr/>
          <p:nvPr/>
        </p:nvSpPr>
        <p:spPr>
          <a:xfrm>
            <a:off x="5257800" y="1810512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3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7830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Quando parar?</a:t>
            </a:r>
          </a:p>
          <a:p>
            <a:pPr algn="l">
              <a:spcAft>
                <a:spcPts val="100"/>
              </a:spcAft>
            </a:pPr>
            <a:r>
              <a:rPr sz="105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Critério verificável, não "o agente acha que acabou".</a:t>
            </a:r>
          </a:p>
        </p:txBody>
      </p:sp>
      <p:sp>
        <p:nvSpPr>
          <p:cNvPr id="11" name="Oval 10"/>
          <p:cNvSpPr/>
          <p:nvPr/>
        </p:nvSpPr>
        <p:spPr>
          <a:xfrm>
            <a:off x="5257800" y="2468879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3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441448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Quanto pode gastar?</a:t>
            </a:r>
          </a:p>
          <a:p>
            <a:pPr algn="l">
              <a:spcAft>
                <a:spcPts val="100"/>
              </a:spcAft>
            </a:pPr>
            <a:r>
              <a:rPr sz="105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Orçamento de voltas, tokens, tempo e R$.</a:t>
            </a:r>
          </a:p>
        </p:txBody>
      </p:sp>
      <p:sp>
        <p:nvSpPr>
          <p:cNvPr id="13" name="Oval 12"/>
          <p:cNvSpPr/>
          <p:nvPr/>
        </p:nvSpPr>
        <p:spPr>
          <a:xfrm>
            <a:off x="5257800" y="3127247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3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099815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Quem confere?</a:t>
            </a:r>
          </a:p>
          <a:p>
            <a:pPr algn="l">
              <a:spcAft>
                <a:spcPts val="100"/>
              </a:spcAft>
            </a:pPr>
            <a:r>
              <a:rPr sz="105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Verificador externo: código, evals, humano.</a:t>
            </a:r>
          </a:p>
        </p:txBody>
      </p:sp>
      <p:sp>
        <p:nvSpPr>
          <p:cNvPr id="15" name="Oval 14"/>
          <p:cNvSpPr/>
          <p:nvPr/>
        </p:nvSpPr>
        <p:spPr>
          <a:xfrm>
            <a:off x="5257800" y="3785616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3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758184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O que ele lembra?</a:t>
            </a:r>
          </a:p>
          <a:p>
            <a:pPr algn="l">
              <a:spcAft>
                <a:spcPts val="100"/>
              </a:spcAft>
            </a:pPr>
            <a:r>
              <a:rPr sz="105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Estado, memória e o que entra no contexto.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56616" y="274320"/>
            <a:ext cx="3497580" cy="256032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 case · fictício, composto de projetos reais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" y="65836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Amplitude Seguros: agentes regulando sinistros de auto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0416" y="4709160"/>
            <a:ext cx="987552" cy="2468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@ahirtonlopes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1216152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15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Setor regulado: pagamento indevido ou negativa sem fundamento vira achado de auditoria e reclamação no regulador.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243584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0212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SUSEP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243584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0212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LGPD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" y="2240280"/>
            <a:ext cx="1325880" cy="10058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2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Gateway</a:t>
            </a:r>
          </a:p>
          <a:p>
            <a:pPr algn="ctr"/>
            <a:r>
              <a:rPr sz="9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auth, custo,
cache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82495" y="2743200"/>
            <a:ext cx="228600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11095" y="2240280"/>
            <a:ext cx="1325880" cy="10058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2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Orquestrador</a:t>
            </a:r>
          </a:p>
          <a:p>
            <a:pPr algn="ctr"/>
            <a:r>
              <a:rPr sz="9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regras e
roteamento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36976" y="2743200"/>
            <a:ext cx="228600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65576" y="1920240"/>
            <a:ext cx="2148840" cy="493776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5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Agente de Triagem</a:t>
            </a:r>
          </a:p>
          <a:p>
            <a:pPr algn="ctr"/>
            <a:r>
              <a:rPr sz="90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lê aviso, fotos e B.O.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2487168"/>
            <a:ext cx="2148840" cy="493776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5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Agente de Cobertura</a:t>
            </a:r>
          </a:p>
          <a:p>
            <a:pPr algn="ctr"/>
            <a:r>
              <a:rPr sz="90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busca cláusula na apólice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65576" y="3054096"/>
            <a:ext cx="2148840" cy="493776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5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Agente de Pagamento</a:t>
            </a:r>
          </a:p>
          <a:p>
            <a:pPr algn="ctr"/>
            <a:r>
              <a:rPr sz="90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propõe a indenização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14416" y="2743200"/>
            <a:ext cx="228600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843016" y="2240280"/>
            <a:ext cx="1371600" cy="100584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150">
                <a:solidFill>
                  <a:srgbClr val="EA4335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Regulador humano</a:t>
            </a:r>
          </a:p>
          <a:p>
            <a:pPr algn="ctr"/>
            <a:r>
              <a:rPr sz="9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acima da alçada
e negativas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" y="3794760"/>
            <a:ext cx="8229600" cy="384048"/>
          </a:xfrm>
          <a:prstGeom prst="roundRect">
            <a:avLst>
              <a:gd name="adj" fmla="val 30000"/>
            </a:avLst>
          </a:prstGeom>
          <a:solidFill>
            <a:srgbClr val="20212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Observabilidade: trilha por volta (ação, argumentos, observação, tempo), custo e versões de prompt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56616" y="27432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" y="65836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 decisão mais importante: o que NÃO é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0416" y="4709160"/>
            <a:ext cx="987552" cy="2468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@ahirtonlopes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" y="1325880"/>
            <a:ext cx="2651760" cy="265176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57784" y="148132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REGRA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18288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Código determinístico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24028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82880" indent="-146304" algn="l">
              <a:spcAft>
                <a:spcPts val="4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vigência da apólice</a:t>
            </a:r>
          </a:p>
          <a:p>
            <a:pPr marL="182880" indent="-146304" algn="l">
              <a:spcAft>
                <a:spcPts val="4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franquia</a:t>
            </a:r>
          </a:p>
          <a:p>
            <a:pPr marL="182880" indent="-146304" algn="l">
              <a:spcAft>
                <a:spcPts val="4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limite da importância segurada</a:t>
            </a:r>
          </a:p>
          <a:p>
            <a:pPr marL="182880" indent="-146304" algn="l">
              <a:spcAft>
                <a:spcPts val="4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alçada de pagamento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91256" y="1325880"/>
            <a:ext cx="2651760" cy="265176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92424" y="148132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AGENTE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18288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LLM + ferramentas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224028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82880" indent="-146304" algn="l">
              <a:spcAft>
                <a:spcPts val="4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ler aviso de sinistro e laudos</a:t>
            </a:r>
          </a:p>
          <a:p>
            <a:pPr marL="182880" indent="-146304" algn="l">
              <a:spcAft>
                <a:spcPts val="4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achar a cláusula aplicável</a:t>
            </a:r>
          </a:p>
          <a:p>
            <a:pPr marL="182880" indent="-146304" algn="l">
              <a:spcAft>
                <a:spcPts val="4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redigir o parecer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25896" y="1325880"/>
            <a:ext cx="2651760" cy="265176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27064" y="148132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HUMANO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18288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Regulador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24028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82880" indent="-146304" algn="l">
              <a:spcAft>
                <a:spcPts val="4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acima da alçada</a:t>
            </a:r>
          </a:p>
          <a:p>
            <a:pPr marL="182880" indent="-146304" algn="l">
              <a:spcAft>
                <a:spcPts val="4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negativa de cobertura</a:t>
            </a:r>
          </a:p>
          <a:p>
            <a:pPr marL="182880" indent="-146304" algn="l">
              <a:spcAft>
                <a:spcPts val="4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caso sem cláusula clara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416052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285F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Lição: </a:t>
            </a:r>
            <a:r>
              <a:rPr sz="12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decompor o processo por risco antes de decompor em agentes.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56616" y="274320"/>
            <a:ext cx="2057400" cy="256032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Arquitetura de fronteira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" y="65836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Multiagente: quando vale o custo de dividir?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0416" y="4709160"/>
            <a:ext cx="987552" cy="2468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@ahirtonlopes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" y="1325880"/>
            <a:ext cx="4069080" cy="224028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 favor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81051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 i="1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Google Research (jan/2026) · Cognition (abr/2026)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19456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82880" indent="-146304" algn="l">
              <a:spcAft>
                <a:spcPts val="5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Tarefa paralelizável: +81% com orquestrador (180 configurações testadas)</a:t>
            </a:r>
          </a:p>
          <a:p>
            <a:pPr marL="182880" indent="-146304" algn="l">
              <a:spcAft>
                <a:spcPts val="5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Funciona quando um agente escreve e os outros só revisam e analisam</a:t>
            </a:r>
          </a:p>
          <a:p>
            <a:pPr marL="182880" indent="-146304" algn="l">
              <a:spcAft>
                <a:spcPts val="5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Subagentes pra isolar contexto, paralelizar e especializar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54296" y="1325880"/>
            <a:ext cx="4069080" cy="224028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82896" y="14630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EA4335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Contra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896" y="181051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 i="1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Google Research (jan/2026) · Anthropic (jan/2026)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2896" y="219456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82880" indent="-146304" algn="l">
              <a:spcAft>
                <a:spcPts val="5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Tarefa sequencial: queda de 39% a 70% em todas as variantes testadas</a:t>
            </a:r>
          </a:p>
          <a:p>
            <a:pPr marL="182880" indent="-146304" algn="l">
              <a:spcAft>
                <a:spcPts val="5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Agentes independentes multiplicam erros por até 17x (4,4x com orquestrador)</a:t>
            </a:r>
          </a:p>
          <a:p>
            <a:pPr marL="182880" indent="-146304" algn="l">
              <a:spcAft>
                <a:spcPts val="5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Custo: 3 a 10x mais tokens que um agente só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3749039"/>
            <a:ext cx="84124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285F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No case: </a:t>
            </a:r>
            <a:r>
              <a:rPr sz="12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agentes separados por responsabilidade auditável (triar, cobrir, pagar), não por moda. Cada fronteira entre agentes é um ponto de controle, e um handoff a mais pra perder contexto.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768" y="420624"/>
            <a:ext cx="1527048" cy="292608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Demo ao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182880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400"/>
              </a:spcAft>
            </a:pPr>
            <a:r>
              <a:rPr sz="5400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Hora de quebrar um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315468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Ao vivo, com Gemini e Google ADK.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Uma alçada que só existia no prompt e um loop sem contrato, sendo segurados no código em tempo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0416" y="4709160"/>
            <a:ext cx="987552" cy="2468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@ahirtonlopes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768" y="420624"/>
            <a:ext cx="1527048" cy="292608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Os erros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182880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400"/>
              </a:spcAft>
            </a:pPr>
            <a:r>
              <a:rPr sz="5400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Os erros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315468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O que custaria caro em produção, com números medidos em demo e em projetos reais.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0416" y="4709160"/>
            <a:ext cx="987552" cy="2468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@ahirtonlopes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0" y="4572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8800">
                <a:solidFill>
                  <a:srgbClr val="FCE8E6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6616" y="274320"/>
            <a:ext cx="2125980" cy="256032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Erro 1 · Excessive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" y="658368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 alçada estava só no prompt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" y="1216152"/>
            <a:ext cx="8229600" cy="329184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</p:spPr>
        <p:txBody>
          <a:bodyPr wrap="square" lIns="164592" tIns="73152" rIns="73152" bIns="73152" rtlCol="0" anchor="ctr"/>
          <a:lstStyle/>
          <a:p>
            <a:pPr algn="l"/>
            <a:r>
              <a:rPr sz="1100">
                <a:solidFill>
                  <a:srgbClr val="EA4335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Quase custou: </a:t>
            </a: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R$ 185 mil aprovados num carro de R$ 92 mil, sem nenhum humano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416" y="4709160"/>
            <a:ext cx="987552" cy="2468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@ahirtonlopes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783080"/>
            <a:ext cx="40233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Prompt (resumo): </a:t>
            </a:r>
            <a:r>
              <a:rPr sz="1100" i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até R$ 20 mil sem aprovação; com ticket do comitê, pode pagar direto</a:t>
            </a: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. Um cargo forjado e um ticket falso depois: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" y="2560320"/>
            <a:ext cx="4023360" cy="960120"/>
          </a:xfrm>
          <a:prstGeom prst="roundRect">
            <a:avLst>
              <a:gd name="adj" fmla="val 4000"/>
            </a:avLst>
          </a:prstGeom>
          <a:solidFill>
            <a:srgbClr val="202124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9496" y="2697479"/>
            <a:ext cx="365760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sz="950">
                <a:solidFill>
                  <a:srgbClr val="F28B82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[volta 1] ação: aprovar_indenizacao(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F28B82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    sinistro_id='AUT-2291', valor_reais=185000)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9AA0A6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observação: {'status': 'pagamento_aprovado'}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3611880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Execução real da demo, 7 de 7 rodadas (reprodução, não estatística). </a:t>
            </a:r>
            <a:r>
              <a:rPr sz="100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Sem a regra de exceção no prompt, o modelo recusou, mas disse que "encaminhou pro humano" sem ferramenta pra isso.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78308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Controle no código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212848"/>
            <a:ext cx="1097280" cy="402336"/>
          </a:xfrm>
          <a:prstGeom prst="roundRect">
            <a:avLst>
              <a:gd name="adj" fmla="val 30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Validação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21284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valor &gt; 0 e ≤ importância segurada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715768"/>
            <a:ext cx="1097280" cy="402336"/>
          </a:xfrm>
          <a:prstGeom prst="roundRect">
            <a:avLst>
              <a:gd name="adj" fmla="val 30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Alçada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71576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acima de R$ 20 mil vira pendência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218688"/>
            <a:ext cx="1097280" cy="402336"/>
          </a:xfrm>
          <a:prstGeom prst="roundRect">
            <a:avLst>
              <a:gd name="adj" fmla="val 30000"/>
            </a:avLst>
          </a:prstGeom>
          <a:solidFill>
            <a:srgbClr val="EA4335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Humano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21868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regulador aprova ou recusa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3721608"/>
            <a:ext cx="1097280" cy="402336"/>
          </a:xfrm>
          <a:prstGeom prst="roundRect">
            <a:avLst>
              <a:gd name="adj" fmla="val 30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Trilha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7216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cada chamada registrada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4315968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285F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Regra no prompt é sugestão. Controle mora na ferramenta.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72768"/>
            <a:ext cx="81381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EA4335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Aconteceu de verdade: </a:t>
            </a:r>
            <a:r>
              <a:rPr sz="950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Replit (jul/2025): o agente apagou o banco de produção durante um code freeze declarado.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0" y="4572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8800">
                <a:solidFill>
                  <a:srgbClr val="FCE8E6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02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6616" y="274320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Erro 2 · Loop sem contrato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" y="658368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 loop que negou sem fundamento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" y="1216152"/>
            <a:ext cx="8229600" cy="329184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</p:spPr>
        <p:txBody>
          <a:bodyPr wrap="square" lIns="164592" tIns="73152" rIns="73152" bIns="73152" rtlCol="0" anchor="ctr"/>
          <a:lstStyle/>
          <a:p>
            <a:pPr algn="l"/>
            <a:r>
              <a:rPr sz="1100">
                <a:solidFill>
                  <a:srgbClr val="EA4335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Quase custou: </a:t>
            </a: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negativa sem base contratual citada, o tipo de caso que vira reclamação no regulador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416" y="4709160"/>
            <a:ext cx="987552" cy="2468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@ahirtonlopes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78308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 apólice não fala de enchente. O prompt pede </a:t>
            </a:r>
            <a:r>
              <a:rPr sz="1100" i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"sempre um parecer conclusivo"</a:t>
            </a: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. O agente buscou 3 ou 4 vezes, não achou nada e registrou: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" y="2560320"/>
            <a:ext cx="4114800" cy="960120"/>
          </a:xfrm>
          <a:prstGeom prst="roundRect">
            <a:avLst>
              <a:gd name="adj" fmla="val 4000"/>
            </a:avLst>
          </a:prstGeom>
          <a:solidFill>
            <a:srgbClr val="202124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9496" y="2697479"/>
            <a:ext cx="3749039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sz="950">
                <a:solidFill>
                  <a:srgbClr val="F28B82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ação: emitir_parecer(decisao='negado',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F28B82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                     clausula_id='N/A')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9AA0A6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observação: {'status': 'parecer_registrado'}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36118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8 de 8 rodadas. </a:t>
            </a:r>
            <a:r>
              <a:rPr sz="100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Em 3 delas, citou colisão ou incêndio como fundamento.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830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Contrato do loop (o harness)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0" y="2231136"/>
            <a:ext cx="365760" cy="365760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2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221284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Orçamento  </a:t>
            </a:r>
            <a:r>
              <a:rPr sz="105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RunConfig(max_llm_calls=6)</a:t>
            </a:r>
          </a:p>
        </p:txBody>
      </p:sp>
      <p:sp>
        <p:nvSpPr>
          <p:cNvPr id="14" name="Oval 13"/>
          <p:cNvSpPr/>
          <p:nvPr/>
        </p:nvSpPr>
        <p:spPr>
          <a:xfrm>
            <a:off x="4846320" y="2734056"/>
            <a:ext cx="365760" cy="365760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2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271576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Verificador externo  </a:t>
            </a:r>
            <a:r>
              <a:rPr sz="105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só aceita cláusula buscada e que trata do fato</a:t>
            </a:r>
          </a:p>
        </p:txBody>
      </p:sp>
      <p:sp>
        <p:nvSpPr>
          <p:cNvPr id="16" name="Oval 15"/>
          <p:cNvSpPr/>
          <p:nvPr/>
        </p:nvSpPr>
        <p:spPr>
          <a:xfrm>
            <a:off x="4846320" y="3236976"/>
            <a:ext cx="365760" cy="365760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2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321868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Saída de emergência  </a:t>
            </a:r>
            <a:r>
              <a:rPr sz="105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escalar é resposta válida</a:t>
            </a:r>
          </a:p>
        </p:txBody>
      </p:sp>
      <p:sp>
        <p:nvSpPr>
          <p:cNvPr id="18" name="Oval 17"/>
          <p:cNvSpPr/>
          <p:nvPr/>
        </p:nvSpPr>
        <p:spPr>
          <a:xfrm>
            <a:off x="4846320" y="3739896"/>
            <a:ext cx="365760" cy="365760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2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372160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Trilha por volta  </a:t>
            </a:r>
            <a:r>
              <a:rPr sz="105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é ela que flagra o desvio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4315968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285F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O prompt não garante convergência. Orçamento, verificador e trilha, sim.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0" y="4572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8800">
                <a:solidFill>
                  <a:srgbClr val="FCE8E6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03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6616" y="274320"/>
            <a:ext cx="2331720" cy="256032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Erro 3 · Ferramentas frágeis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" y="658368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 modelo não fala o vocabulário do seu código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" y="1216152"/>
            <a:ext cx="8229600" cy="329184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</p:spPr>
        <p:txBody>
          <a:bodyPr wrap="square" lIns="164592" tIns="73152" rIns="73152" bIns="73152" rtlCol="0" anchor="ctr"/>
          <a:lstStyle/>
          <a:p>
            <a:pPr algn="l"/>
            <a:r>
              <a:rPr sz="1100">
                <a:solidFill>
                  <a:srgbClr val="EA4335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Quase custou: </a:t>
            </a: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um parâmetro com erro de digitação derrubou o programa inteiro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416" y="4709160"/>
            <a:ext cx="987552" cy="2468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@ahirtonlopes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" y="1783080"/>
            <a:ext cx="4069080" cy="23774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1901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Argumento que não existe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286000"/>
            <a:ext cx="3611880" cy="475488"/>
          </a:xfrm>
          <a:prstGeom prst="roundRect">
            <a:avLst>
              <a:gd name="adj" fmla="val 4000"/>
            </a:avLst>
          </a:prstGeom>
          <a:solidFill>
            <a:srgbClr val="202124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423160"/>
            <a:ext cx="324612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sz="1000">
                <a:solidFill>
                  <a:srgbClr val="F28B82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buscar(jurisdicicao="BR")  # sic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871216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Resultado: </a:t>
            </a:r>
            <a:r>
              <a:rPr sz="10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TypeError: o loop morreu no meio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3328416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4285F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O que mudou: </a:t>
            </a:r>
            <a:r>
              <a:rPr sz="10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validar argumentos e devolver o erro como observação pro loop.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54296" y="1783080"/>
            <a:ext cx="4069080" cy="23774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82896" y="1901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Vocabulário diferente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82896" y="2286000"/>
            <a:ext cx="3611880" cy="676656"/>
          </a:xfrm>
          <a:prstGeom prst="roundRect">
            <a:avLst>
              <a:gd name="adj" fmla="val 4000"/>
            </a:avLst>
          </a:prstGeom>
          <a:solidFill>
            <a:srgbClr val="202124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65776" y="2423160"/>
            <a:ext cx="3246120" cy="4023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sz="1000">
                <a:solidFill>
                  <a:srgbClr val="F28B82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buscar_clausula("fenômenos da natureza")</a:t>
            </a:r>
          </a:p>
          <a:p>
            <a:pPr algn="l">
              <a:spcAft>
                <a:spcPts val="100"/>
              </a:spcAft>
            </a:pPr>
            <a:r>
              <a:rPr sz="1000">
                <a:solidFill>
                  <a:srgbClr val="F28B82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buscar_clausula("danos ao veículo")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3072384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Resultado: </a:t>
            </a:r>
            <a:r>
              <a:rPr sz="10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nada pra "fenômenos da natureza"; match espúrio pra "danos ao veículo" (CL-01, colisão)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6" y="3529584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4285F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O que mudou: </a:t>
            </a:r>
            <a:r>
              <a:rPr sz="10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busca híbrida + testes com as frases reais que o modelo gera.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4315968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285F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Ferramenta de agente é API pública pra um cliente que improvisa.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72768"/>
            <a:ext cx="81381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EA4335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Aconteceu de verdade: </a:t>
            </a:r>
            <a:r>
              <a:rPr sz="950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STJ (mai/2026): petições com comandos ocultos para enganar os modelos de IA do tribunal.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0" y="4572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8800">
                <a:solidFill>
                  <a:srgbClr val="FCE8E6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6616" y="274320"/>
            <a:ext cx="2057400" cy="256032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Erro 4 · Números mágicos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" y="658368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 limiar de 0,92 que nunca ia bater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" y="1216152"/>
            <a:ext cx="8229600" cy="329184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</p:spPr>
        <p:txBody>
          <a:bodyPr wrap="square" lIns="164592" tIns="73152" rIns="73152" bIns="73152" rtlCol="0" anchor="ctr"/>
          <a:lstStyle/>
          <a:p>
            <a:pPr algn="l"/>
            <a:r>
              <a:rPr sz="1100">
                <a:solidFill>
                  <a:srgbClr val="EA4335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Quase custou: </a:t>
            </a: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cache e fallback desligados na prática, sem ninguém saber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416" y="4709160"/>
            <a:ext cx="987552" cy="2468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@ahirtonlopes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56616" y="1691640"/>
          <a:ext cx="47548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94960" y="178308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Cache semântico no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148840"/>
            <a:ext cx="338328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82880" indent="-146304" algn="l">
              <a:spcAft>
                <a:spcPts val="600"/>
              </a:spcAft>
              <a:buChar char="•"/>
            </a:pPr>
            <a:r>
              <a:rPr sz="1100" b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Limiar assumido: 0,92. </a:t>
            </a: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Uma paráfrase real deu 0,825: o cache nunca seria usado.</a:t>
            </a:r>
          </a:p>
          <a:p>
            <a:pPr marL="182880" indent="-146304" algn="l">
              <a:spcAft>
                <a:spcPts val="600"/>
              </a:spcAft>
              <a:buChar char="•"/>
            </a:pPr>
            <a:r>
              <a:rPr sz="1100" b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Recalibrado com dado real: 0,75.</a:t>
            </a:r>
          </a:p>
          <a:p>
            <a:pPr marL="182880" indent="-146304" algn="l">
              <a:spcAft>
                <a:spcPts val="600"/>
              </a:spcAft>
              <a:buChar char="•"/>
            </a:pPr>
            <a:r>
              <a:rPr sz="1100" b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Fallback morto: </a:t>
            </a: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 confiança saía sempre 0,803 e o modelo maior nunca era chamado.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384048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4285F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Não existe limiar universal. Teste o caminho de fallback de propósito.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0" y="4572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8800">
                <a:solidFill>
                  <a:srgbClr val="FCE8E6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05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6616" y="274320"/>
            <a:ext cx="2468880" cy="256032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Erro 5 · Contexto que apodrece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" y="658368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Contexto é orçamento, não depósito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" y="1216152"/>
            <a:ext cx="8229600" cy="329184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</p:spPr>
        <p:txBody>
          <a:bodyPr wrap="square" lIns="164592" tIns="73152" rIns="73152" bIns="73152" rtlCol="0" anchor="ctr"/>
          <a:lstStyle/>
          <a:p>
            <a:pPr algn="l"/>
            <a:r>
              <a:rPr sz="1100">
                <a:solidFill>
                  <a:srgbClr val="EA4335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Quase custou: </a:t>
            </a: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o agente repetir um bug que ele mesmo já tinha corrigido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416" y="4709160"/>
            <a:ext cx="987552" cy="2468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@ahirtonlopes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" y="1737360"/>
            <a:ext cx="786384" cy="4572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179576" y="1737360"/>
            <a:ext cx="969264" cy="457200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2185416" y="1737360"/>
            <a:ext cx="877824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Memória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9816" y="1737360"/>
            <a:ext cx="1426464" cy="457200"/>
          </a:xfrm>
          <a:prstGeom prst="rect">
            <a:avLst/>
          </a:prstGeom>
          <a:solidFill>
            <a:srgbClr val="669DF6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62856" y="1737360"/>
            <a:ext cx="1975104" cy="457200"/>
          </a:xfrm>
          <a:prstGeom prst="rect">
            <a:avLst/>
          </a:prstGeom>
          <a:solidFill>
            <a:srgbClr val="AECBFA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Histórico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74536" y="1737360"/>
            <a:ext cx="1975104" cy="457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Resultados de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22402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950">
                <a:solidFill>
                  <a:srgbClr val="EA4335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o primeiro a apodrecer: após 800K tokens, modelos de ponta deixam passar até 30x mais ações perigosas (arXiv, mai/2026) 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" y="260604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" y="2679192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sz="12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Escrever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persistir fora da janela: notas, memória, AGENTS.md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71216" y="260604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08376" y="2679192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sz="12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Selecionar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só o relevante: RAG, poucas tools por etapa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" y="338328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6" y="3456432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sz="12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Comprimir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resumir histórico, podar saídas longas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71216" y="338328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08376" y="3456432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sz="12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Isolar</a:t>
            </a:r>
          </a:p>
          <a:p>
            <a:pPr algn="l">
              <a:spcAft>
                <a:spcPts val="100"/>
              </a:spcAft>
            </a:pPr>
            <a:r>
              <a:rPr sz="9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subagentes com contexto limpo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26060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 que vimos apodrecer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292608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82880" indent="-146304" algn="l">
              <a:spcAft>
                <a:spcPts val="4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Lição esquecida depois de compactar o contexto</a:t>
            </a:r>
          </a:p>
          <a:p>
            <a:pPr marL="182880" indent="-146304" algn="l">
              <a:spcAft>
                <a:spcPts val="4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"Bug corrigido no módulo anterior" que nunca existiu</a:t>
            </a:r>
          </a:p>
          <a:p>
            <a:pPr marL="182880" indent="-146304" algn="l">
              <a:spcAft>
                <a:spcPts val="4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2 de 5 juízes LLM herdando o mesmo falso alarme de um contexto impreciso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4315968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4285F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No case: orçamento por seção do contexto, system prompt intocável, histórico resumido continuamente.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1545336"/>
            <a:ext cx="81381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EA4335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Aconteceu de verdade: </a:t>
            </a:r>
            <a:r>
              <a:rPr sz="950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Meta (fev/2026): após compactar o contexto, o agente esqueceu a regra de só sugerir e apagou e-mails.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0" y="4572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8800">
                <a:solidFill>
                  <a:srgbClr val="FCE8E6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06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6616" y="274320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Erro 6 · Evals frágeis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" y="658368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Avalie o avaliador antes de acreditar no número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" y="1216152"/>
            <a:ext cx="8229600" cy="329184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</p:spPr>
        <p:txBody>
          <a:bodyPr wrap="square" lIns="164592" tIns="73152" rIns="73152" bIns="73152" rtlCol="0" anchor="ctr"/>
          <a:lstStyle/>
          <a:p>
            <a:pPr algn="l"/>
            <a:r>
              <a:rPr sz="1100">
                <a:solidFill>
                  <a:srgbClr val="EA4335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Quase custou: </a:t>
            </a: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trocar de modelo por um "overfitting" que era bug do harness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416" y="4709160"/>
            <a:ext cx="987552" cy="2468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@ahirtonlopes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69164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400"/>
              </a:spcAft>
            </a:pPr>
            <a:r>
              <a:rPr sz="24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88,9% →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" y="2514600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O "overfitting" era o harness comparando com == e diferenciando maiúsculas.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1256" y="169164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400"/>
              </a:spcAft>
            </a:pPr>
            <a:r>
              <a:rPr sz="40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 de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1256" y="2514600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retreinos erraram igual: R$ 1.870,50 virou 187050. Reprodutível, não ruído: a causa estava no dataset.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25896" y="169164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400"/>
              </a:spcAft>
            </a:pPr>
            <a:r>
              <a:rPr sz="40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 de 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5896" y="2514600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agentes avaliadores mudou de veredito num rerun idêntico, sem nada ter mudado.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" y="3611880"/>
            <a:ext cx="8229600" cy="64008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O que mudou: </a:t>
            </a: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repetir antes de concluir, tratar N ≤ 3 como provisório, olhar a distribuição do dataset (só 30,6% dos exemplos tinham centavos) e testar o harness com casos conhecidos.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0" y="4572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</a:pPr>
            <a:r>
              <a:rPr sz="8800">
                <a:solidFill>
                  <a:srgbClr val="FCE8E6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6616" y="274320"/>
            <a:ext cx="2606040" cy="256032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Erro 7 · Vibe coding no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" y="658368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 workflow gerado que abria a porta do repositório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" y="1216152"/>
            <a:ext cx="8229600" cy="329184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</p:spPr>
        <p:txBody>
          <a:bodyPr wrap="square" lIns="164592" tIns="73152" rIns="73152" bIns="73152" rtlCol="0" anchor="ctr"/>
          <a:lstStyle/>
          <a:p>
            <a:pPr algn="l"/>
            <a:r>
              <a:rPr sz="1100">
                <a:solidFill>
                  <a:srgbClr val="EA4335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Quase custou: </a:t>
            </a: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token de escrita exposto a código de qualquer fork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416" y="4709160"/>
            <a:ext cx="987552" cy="2468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@ahirtonlopes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783080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O bot de governança dos PRs quebrava em forks (token só leitura, 403). A "correção" óbvia, a que um agente costuma sugerir, é rodar com permissão de escrita no contexto do PR: o clássico </a:t>
            </a:r>
            <a:r>
              <a:rPr sz="1100" b="1">
                <a:solidFill>
                  <a:srgbClr val="EA4335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pwn request</a:t>
            </a:r>
            <a:r>
              <a:rPr sz="11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" y="2880360"/>
            <a:ext cx="4023360" cy="777240"/>
          </a:xfrm>
          <a:prstGeom prst="roundRect">
            <a:avLst>
              <a:gd name="adj" fmla="val 4000"/>
            </a:avLst>
          </a:prstGeom>
          <a:solidFill>
            <a:srgbClr val="202124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9496" y="301752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sz="850">
                <a:solidFill>
                  <a:srgbClr val="9AA0A6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# perigoso: token de escrita + entrada do fork no shell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F28B82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on: pull_request_target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F28B82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run: echo "${{ github.event.pull_request.title }}"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78308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Como ficou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194560"/>
            <a:ext cx="3840480" cy="65836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100">
                <a:solidFill>
                  <a:srgbClr val="4285F4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pull_request</a:t>
            </a:r>
          </a:p>
          <a:p>
            <a:pPr algn="ctr"/>
            <a:r>
              <a:rPr sz="10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só avalia e sobe um artefato, sem segredos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75120" y="2852928"/>
            <a:ext cx="0" cy="18288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54880" y="3035808"/>
            <a:ext cx="3840480" cy="658368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100">
                <a:solidFill>
                  <a:srgbClr val="34A853"/>
                </a:solidFill>
                <a:latin typeface="Google Sans Mono"/>
                <a:ea typeface="Google Sans Mono"/>
                <a:cs typeface="Google Sans Mono"/>
                <a:sym typeface="Google Sans Mono"/>
              </a:rPr>
              <a:t>workflow_run</a:t>
            </a:r>
          </a:p>
          <a:p>
            <a:pPr algn="ctr"/>
            <a:r>
              <a:rPr sz="10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lê o artefato com readFileSync; nunca interpola ${{ 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388620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Verificado com um PR de fork real.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4224528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285F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Vibe coding acelera os 90% fáceis. Os 10% de segurança exigem alguém que saiba ler o que foi gerado.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572768"/>
            <a:ext cx="81381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EA4335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Aconteceu de verdade: </a:t>
            </a:r>
            <a:r>
              <a:rPr sz="950" b="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Nx (ago/2025): pull_request_target ecoando o título do PR; o malware tentou usar Claude e Gemini locais.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768" y="420624"/>
            <a:ext cx="1527048" cy="292608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Os times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182880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400"/>
              </a:spcAft>
            </a:pPr>
            <a:r>
              <a:rPr sz="5400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 que mudou nos 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315468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Habilidades que viraram não negociáveis e práticas que só valorizamos depois.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0416" y="4709160"/>
            <a:ext cx="987552" cy="2468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@ahirtonlopes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56616" y="27432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Os times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" y="65836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Habilidades técnicas que viraram não negociáveis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0416" y="4709160"/>
            <a:ext cx="987552" cy="2468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@ahirtonlopes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" y="1325880"/>
            <a:ext cx="2651760" cy="129844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39496" y="1508760"/>
            <a:ext cx="365760" cy="3657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152704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Context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96596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Decidir o que entra, sai e persiste em cada volta.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2350008"/>
            <a:ext cx="23317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900">
                <a:solidFill>
                  <a:srgbClr val="EA4335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← erro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91256" y="1325880"/>
            <a:ext cx="2651760" cy="129844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374136" y="1508760"/>
            <a:ext cx="365760" cy="3657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152704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Evals e estatística básica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196596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Golden set, rodadas repetidas, desconfiar de N pequeno.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6" y="2350008"/>
            <a:ext cx="23317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900">
                <a:solidFill>
                  <a:srgbClr val="EA4335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← erro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25896" y="1325880"/>
            <a:ext cx="2651760" cy="129844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208776" y="1508760"/>
            <a:ext cx="365760" cy="3657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4264" y="152704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Observabilidade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96596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Ler trilhas de agente como se lê log de produção.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2350008"/>
            <a:ext cx="23317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900">
                <a:solidFill>
                  <a:srgbClr val="EA4335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← erros 1,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" y="2788920"/>
            <a:ext cx="2651760" cy="129844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39496" y="2971800"/>
            <a:ext cx="365760" cy="3657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3" y="299008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Segurança agêntica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" y="34290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Prompt injection, Excessive Agency, supply chain de tools e MCP.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" y="3813048"/>
            <a:ext cx="23317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900">
                <a:solidFill>
                  <a:srgbClr val="EA4335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← erros 1, 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91256" y="2788920"/>
            <a:ext cx="2651760" cy="129844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374136" y="2971800"/>
            <a:ext cx="365760" cy="3657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9624" y="299008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Ler código gerado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4136" y="34290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Revisar o que o agente escreveu, sobretudo infra e CI.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4136" y="3813048"/>
            <a:ext cx="23317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900">
                <a:solidFill>
                  <a:srgbClr val="EA4335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← erro 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25896" y="2788920"/>
            <a:ext cx="2651760" cy="129844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208776" y="2971800"/>
            <a:ext cx="365760" cy="3657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4264" y="299008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Contratos e estado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08776" y="34290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Schemas, Structured Output, limites no código.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8776" y="3813048"/>
            <a:ext cx="23317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900">
                <a:solidFill>
                  <a:srgbClr val="EA4335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← erros 1,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315968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285F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Prompt bem escrito deixou de ser diferencial. Virou o mínimo.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56616" y="27432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Os times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" y="65836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Práticas que só aprendemos a valorizar depois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0416" y="4709160"/>
            <a:ext cx="987552" cy="2468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@ahirtonlopes</a:t>
            </a:r>
          </a:p>
        </p:txBody>
      </p:sp>
      <p:sp>
        <p:nvSpPr>
          <p:cNvPr id="5" name="Oval 4"/>
          <p:cNvSpPr/>
          <p:nvPr/>
        </p:nvSpPr>
        <p:spPr>
          <a:xfrm>
            <a:off x="356616" y="1371600"/>
            <a:ext cx="420624" cy="420624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0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1325880"/>
            <a:ext cx="356616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Spec antes do prompt</a:t>
            </a: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Spec-driven development: o agente implementa um contrato, não uma vibe.</a:t>
            </a:r>
          </a:p>
        </p:txBody>
      </p:sp>
      <p:sp>
        <p:nvSpPr>
          <p:cNvPr id="7" name="Oval 6"/>
          <p:cNvSpPr/>
          <p:nvPr/>
        </p:nvSpPr>
        <p:spPr>
          <a:xfrm>
            <a:off x="356616" y="2331720"/>
            <a:ext cx="420624" cy="420624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0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286000"/>
            <a:ext cx="356616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Memória do time versionada</a:t>
            </a: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Um AGENTS.md (ou CLAUDE.md) espelhado pra todas as ferramentas.</a:t>
            </a:r>
          </a:p>
        </p:txBody>
      </p:sp>
      <p:sp>
        <p:nvSpPr>
          <p:cNvPr id="9" name="Oval 8"/>
          <p:cNvSpPr/>
          <p:nvPr/>
        </p:nvSpPr>
        <p:spPr>
          <a:xfrm>
            <a:off x="356616" y="3291839"/>
            <a:ext cx="420624" cy="420624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0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246120"/>
            <a:ext cx="356616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Golden set desde o dia 1</a:t>
            </a: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Com as frases reais que o modelo produz, não as que imaginamos.</a:t>
            </a:r>
          </a:p>
        </p:txBody>
      </p:sp>
      <p:sp>
        <p:nvSpPr>
          <p:cNvPr id="11" name="Oval 10"/>
          <p:cNvSpPr/>
          <p:nvPr/>
        </p:nvSpPr>
        <p:spPr>
          <a:xfrm>
            <a:off x="4654296" y="1371600"/>
            <a:ext cx="420624" cy="420624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0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1224" y="1325880"/>
            <a:ext cx="356616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HITL proporcional ao risco</a:t>
            </a: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Humano onde o erro é caro; automação onde é barato.</a:t>
            </a:r>
          </a:p>
        </p:txBody>
      </p:sp>
      <p:sp>
        <p:nvSpPr>
          <p:cNvPr id="13" name="Oval 12"/>
          <p:cNvSpPr/>
          <p:nvPr/>
        </p:nvSpPr>
        <p:spPr>
          <a:xfrm>
            <a:off x="4654296" y="2331720"/>
            <a:ext cx="420624" cy="420624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0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2286000"/>
            <a:ext cx="356616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Conferir o artefato real</a:t>
            </a: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Fatura, spec do job, arquivo gerado. Nunca só o resumo.</a:t>
            </a:r>
          </a:p>
        </p:txBody>
      </p:sp>
      <p:sp>
        <p:nvSpPr>
          <p:cNvPr id="15" name="Oval 14"/>
          <p:cNvSpPr/>
          <p:nvPr/>
        </p:nvSpPr>
        <p:spPr>
          <a:xfrm>
            <a:off x="4654296" y="3291839"/>
            <a:ext cx="420624" cy="420624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000">
                <a:solidFill>
                  <a:srgbClr val="4285F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246120"/>
            <a:ext cx="356616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Post-mortem de agente</a:t>
            </a: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Toda falha vira teste de regressão e linha na memória do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4315968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285F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Nenhuma é nova. Todas pareciam burocracia até o agente falhar.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56616" y="274320"/>
            <a:ext cx="1028700" cy="256032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Pra levar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" y="65836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24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 playbook: um loop com contrato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0416" y="4709160"/>
            <a:ext cx="987552" cy="2468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@ahirtonlopes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" y="1417320"/>
            <a:ext cx="1261872" cy="9144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15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Spec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" y="2423160"/>
            <a:ext cx="1261872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sz="100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o quê e o critério de pronto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27631" y="1874519"/>
            <a:ext cx="137161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773936" y="1417320"/>
            <a:ext cx="1261872" cy="9144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15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Plano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3936" y="2423160"/>
            <a:ext cx="1261872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sz="100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tarefas pequenas e revisáveis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44952" y="1874519"/>
            <a:ext cx="137160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191256" y="1417320"/>
            <a:ext cx="1261872" cy="9144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15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Loop do agente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2423160"/>
            <a:ext cx="1261872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sz="100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sandbox, orçamento, permissões mínimas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62272" y="1874519"/>
            <a:ext cx="137160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08576" y="1417320"/>
            <a:ext cx="1261872" cy="9144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15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Oráculo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423160"/>
            <a:ext cx="1261872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sz="100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código, testes e evals decidem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79592" y="1874519"/>
            <a:ext cx="137160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25896" y="1417320"/>
            <a:ext cx="1261872" cy="914400"/>
          </a:xfrm>
          <a:prstGeom prst="roundRect">
            <a:avLst>
              <a:gd name="adj" fmla="val 12000"/>
            </a:avLst>
          </a:prstGeom>
          <a:solidFill>
            <a:srgbClr val="EA4335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15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Humano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5896" y="2423160"/>
            <a:ext cx="1261872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sz="100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alçada, negativa, diff lido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96912" y="1874519"/>
            <a:ext cx="137159" cy="0"/>
          </a:xfrm>
          <a:prstGeom prst="line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43216" y="1417320"/>
            <a:ext cx="1261872" cy="9144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ctr"/>
            <a:r>
              <a:rPr sz="115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Memória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2423160"/>
            <a:ext cx="1261872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sz="1000">
                <a:solidFill>
                  <a:srgbClr val="5F6368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lição vira AGENTS.md e teste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960120" y="3154680"/>
            <a:ext cx="7086600" cy="0"/>
          </a:xfrm>
          <a:prstGeom prst="line">
            <a:avLst/>
          </a:prstGeom>
          <a:ln w="1587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97280" y="320040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sz="1000" i="1">
                <a:solidFill>
                  <a:srgbClr val="4285F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harness engineering: todo erro do agente vira correção permanente (Hashimoto, fev/2026)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" y="3611880"/>
            <a:ext cx="8229600" cy="73152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</p:spPr>
        <p:txBody>
          <a:bodyPr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639312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</a:pPr>
            <a:r>
              <a:rPr sz="1250">
                <a:solidFill>
                  <a:srgbClr val="202124"/>
                </a:solidFill>
                <a:latin typeface="Merriweather"/>
                <a:ea typeface="Merriweather"/>
                <a:cs typeface="Merriweather"/>
                <a:sym typeface="Merriweather"/>
              </a:rPr>
              <a:t>“O loop é o motor. Contexto, verificação e limites são o resto do carro. E quem dirige ainda é o time.”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6"/>
          <p:cNvSpPr txBox="1"/>
          <p:nvPr/>
        </p:nvSpPr>
        <p:spPr>
          <a:xfrm>
            <a:off x="592489" y="1189263"/>
            <a:ext cx="7959000" cy="20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pt-BR" sz="3300" dirty="0">
                <a:solidFill>
                  <a:srgbClr val="181818"/>
                </a:solidFill>
                <a:latin typeface="Merriweather" pitchFamily="2" charset="77"/>
              </a:rPr>
              <a:t>“</a:t>
            </a:r>
            <a:r>
              <a:rPr lang="pt-BR" sz="4000" dirty="0"/>
              <a:t>Se pensarmos no caminho para a AGI (Inteligência Artificial Geral), então obviamente precisamos de um sistema que consiga raciocinar, dividir problemas e executar ações no mundo</a:t>
            </a:r>
            <a:r>
              <a:rPr lang="pt-BR" sz="3300" dirty="0">
                <a:solidFill>
                  <a:srgbClr val="181818"/>
                </a:solidFill>
                <a:latin typeface="Merriweather" pitchFamily="2" charset="77"/>
              </a:rPr>
              <a:t>.”</a:t>
            </a:r>
            <a:endParaRPr sz="33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pSp>
        <p:nvGrpSpPr>
          <p:cNvPr id="408" name="Google Shape;408;p56"/>
          <p:cNvGrpSpPr/>
          <p:nvPr/>
        </p:nvGrpSpPr>
        <p:grpSpPr>
          <a:xfrm>
            <a:off x="3768614" y="4238684"/>
            <a:ext cx="1606772" cy="355205"/>
            <a:chOff x="4778412" y="3086837"/>
            <a:chExt cx="3639347" cy="731400"/>
          </a:xfrm>
        </p:grpSpPr>
        <p:pic>
          <p:nvPicPr>
            <p:cNvPr id="409" name="Google Shape;409;p56"/>
            <p:cNvPicPr preferRelativeResize="0"/>
            <p:nvPr/>
          </p:nvPicPr>
          <p:blipFill rotWithShape="1">
            <a:blip r:embed="rId3">
              <a:alphaModFix/>
            </a:blip>
            <a:srcRect l="3967" t="7692" r="3976" b="7683"/>
            <a:stretch/>
          </p:blipFill>
          <p:spPr>
            <a:xfrm>
              <a:off x="4778412" y="3086837"/>
              <a:ext cx="3639300" cy="7314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410" name="Google Shape;410;p56"/>
            <p:cNvSpPr/>
            <p:nvPr/>
          </p:nvSpPr>
          <p:spPr>
            <a:xfrm>
              <a:off x="4778458" y="3090620"/>
              <a:ext cx="3639300" cy="7236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45713" rIns="68575" bIns="45713" anchor="ctr" anchorCtr="0">
              <a:noAutofit/>
            </a:bodyPr>
            <a:lstStyle/>
            <a:p>
              <a:pPr algn="ctr"/>
              <a:r>
                <a:rPr lang="en" sz="1150" dirty="0" err="1">
                  <a:solidFill>
                    <a:srgbClr val="202124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Demis</a:t>
              </a:r>
              <a:r>
                <a:rPr lang="en" sz="1150" dirty="0">
                  <a:solidFill>
                    <a:srgbClr val="202124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 Hassabis (Google DeepMind)</a:t>
              </a:r>
              <a:endParaRPr sz="1150" dirty="0"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D7C10-4E00-304B-3430-FF5CD162DB42}"/>
              </a:ext>
            </a:extLst>
          </p:cNvPr>
          <p:cNvSpPr txBox="1"/>
          <p:nvPr/>
        </p:nvSpPr>
        <p:spPr>
          <a:xfrm>
            <a:off x="7772400" y="4711236"/>
            <a:ext cx="11887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1000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@</a:t>
            </a:r>
            <a:r>
              <a:rPr lang="en" sz="1000" dirty="0" err="1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r>
              <a:rPr lang="en" sz="1000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endParaRPr lang="pt-BR" sz="1000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7"/>
          <p:cNvSpPr/>
          <p:nvPr/>
        </p:nvSpPr>
        <p:spPr>
          <a:xfrm>
            <a:off x="4992925" y="2989725"/>
            <a:ext cx="3727200" cy="1048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76" name="Google Shape;676;p8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77" name="Google Shape;677;p87"/>
          <p:cNvSpPr txBox="1"/>
          <p:nvPr/>
        </p:nvSpPr>
        <p:spPr>
          <a:xfrm>
            <a:off x="963800" y="2829613"/>
            <a:ext cx="27438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Lopes,</a:t>
            </a:r>
            <a:r>
              <a:rPr lang="en" sz="15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 PhD. ( Ele/Dele )</a:t>
            </a:r>
            <a:endParaRPr sz="150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Senior Manager</a:t>
            </a:r>
            <a:endParaRPr sz="1000">
              <a:solidFill>
                <a:srgbClr val="202124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02124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78" name="Google Shape;678;p87"/>
          <p:cNvSpPr txBox="1"/>
          <p:nvPr/>
        </p:nvSpPr>
        <p:spPr>
          <a:xfrm>
            <a:off x="356625" y="1969236"/>
            <a:ext cx="38421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Obrigado!</a:t>
            </a:r>
            <a:endParaRPr sz="4700">
              <a:solidFill>
                <a:srgbClr val="202124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679" name="Google Shape;679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18251" y="2466353"/>
            <a:ext cx="958100" cy="358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92924" y="1410600"/>
            <a:ext cx="958107" cy="97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8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4663" y="2489893"/>
            <a:ext cx="958100" cy="406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87"/>
          <p:cNvPicPr preferRelativeResize="0"/>
          <p:nvPr/>
        </p:nvPicPr>
        <p:blipFill rotWithShape="1">
          <a:blip r:embed="rId6">
            <a:alphaModFix/>
          </a:blip>
          <a:srcRect l="6484" t="6483" r="6475" b="6483"/>
          <a:stretch/>
        </p:blipFill>
        <p:spPr>
          <a:xfrm>
            <a:off x="6299245" y="1410610"/>
            <a:ext cx="1048941" cy="1048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8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71100" y="1410612"/>
            <a:ext cx="1048942" cy="1016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8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992191" y="2474371"/>
            <a:ext cx="406765" cy="40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87"/>
          <p:cNvPicPr preferRelativeResize="0"/>
          <p:nvPr/>
        </p:nvPicPr>
        <p:blipFill rotWithShape="1">
          <a:blip r:embed="rId9">
            <a:alphaModFix/>
          </a:blip>
          <a:srcRect b="32966"/>
          <a:stretch/>
        </p:blipFill>
        <p:spPr>
          <a:xfrm>
            <a:off x="389475" y="2793850"/>
            <a:ext cx="483900" cy="468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86" name="Google Shape;686;p87"/>
          <p:cNvSpPr txBox="1"/>
          <p:nvPr/>
        </p:nvSpPr>
        <p:spPr>
          <a:xfrm>
            <a:off x="4960113" y="3214063"/>
            <a:ext cx="3727200" cy="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0" u="none" strike="noStrike" cap="none" dirty="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https://</a:t>
            </a:r>
            <a:r>
              <a:rPr lang="en" sz="1100" i="0" u="none" strike="noStrike" cap="none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www.linkedin.com</a:t>
            </a:r>
            <a:r>
              <a:rPr lang="en" sz="1100" i="0" u="none" strike="noStrike" cap="none" dirty="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/in/</a:t>
            </a:r>
            <a:r>
              <a:rPr lang="en" sz="1100" i="0" u="none" strike="noStrike" cap="none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endParaRPr sz="1100" i="0" u="none" strike="noStrike" cap="none" dirty="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0" u="none" strike="noStrike" cap="none" dirty="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https://</a:t>
            </a:r>
            <a:r>
              <a:rPr lang="en" sz="1100" i="0" u="none" strike="noStrike" cap="none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github.com</a:t>
            </a:r>
            <a:r>
              <a:rPr lang="en" sz="1100" i="0" u="none" strike="noStrike" cap="none" dirty="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/</a:t>
            </a:r>
            <a:r>
              <a:rPr lang="en" sz="1100" i="0" u="none" strike="noStrike" cap="none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endParaRPr sz="1100" i="0" u="none" strike="noStrike" cap="none" dirty="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0" u="none" strike="noStrike" cap="none" dirty="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https://</a:t>
            </a:r>
            <a:r>
              <a:rPr lang="en" sz="1100" i="0" u="none" strike="noStrike" cap="none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x.com</a:t>
            </a:r>
            <a:r>
              <a:rPr lang="en" sz="1100" i="0" u="none" strike="noStrike" cap="none" dirty="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/</a:t>
            </a:r>
            <a:r>
              <a:rPr lang="en" sz="1100" i="0" u="none" strike="noStrike" cap="none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endParaRPr sz="1100" i="0" u="none" strike="noStrike" cap="none" dirty="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8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77" name="Google Shape;677;p87"/>
          <p:cNvSpPr txBox="1"/>
          <p:nvPr/>
        </p:nvSpPr>
        <p:spPr>
          <a:xfrm>
            <a:off x="963800" y="2829613"/>
            <a:ext cx="27438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Lopes,</a:t>
            </a:r>
            <a:r>
              <a:rPr lang="en" sz="15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 PhD. ( Ele/Dele )</a:t>
            </a:r>
            <a:endParaRPr sz="150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Senior Manager</a:t>
            </a:r>
            <a:endParaRPr sz="1000">
              <a:solidFill>
                <a:srgbClr val="202124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02124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78" name="Google Shape;678;p87"/>
          <p:cNvSpPr txBox="1"/>
          <p:nvPr/>
        </p:nvSpPr>
        <p:spPr>
          <a:xfrm>
            <a:off x="356625" y="1969236"/>
            <a:ext cx="38421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Material</a:t>
            </a:r>
            <a:endParaRPr sz="4700">
              <a:solidFill>
                <a:srgbClr val="202124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685" name="Google Shape;685;p87"/>
          <p:cNvPicPr preferRelativeResize="0"/>
          <p:nvPr/>
        </p:nvPicPr>
        <p:blipFill rotWithShape="1">
          <a:blip r:embed="rId2">
            <a:alphaModFix/>
          </a:blip>
          <a:srcRect b="32966"/>
          <a:stretch/>
        </p:blipFill>
        <p:spPr>
          <a:xfrm>
            <a:off x="389475" y="2793850"/>
            <a:ext cx="483900" cy="468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900" name="RepoQRC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000" y="1300000"/>
            <a:ext cx="1900000" cy="1900000"/>
          </a:xfrm>
          <a:prstGeom prst="rect">
            <a:avLst/>
          </a:prstGeom>
        </p:spPr>
      </p:pic>
      <p:sp>
        <p:nvSpPr>
          <p:cNvPr id="901" name="RepoCaption"/>
          <p:cNvSpPr txBox="1"/>
          <p:nvPr/>
        </p:nvSpPr>
        <p:spPr>
          <a:xfrm>
            <a:off x="4758000" y="3300000"/>
            <a:ext cx="4200000" cy="7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lang="pt-BR" sz="1600" b="1" dirty="0">
                <a:solidFill>
                  <a:schemeClr val="dk1"/>
                </a:solidFill>
              </a:rPr>
              <a:t>Slides + código da demo</a:t>
            </a:r>
          </a:p>
          <a:p>
            <a:pPr algn="ctr"/>
            <a:r>
              <a:rPr lang="pt-BR" sz="1300" dirty="0">
                <a:solidFill>
                  <a:schemeClr val="dk2"/>
                </a:solidFill>
              </a:rPr>
              <a:t>github.com/ahirtonlopes/alem-dos-loops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2603</TotalTime>
  <Words>4766</Words>
  <Application>Microsoft Macintosh PowerPoint</Application>
  <PresentationFormat>Apresentação na tela (16:9)</PresentationFormat>
  <Paragraphs>349</Paragraphs>
  <Slides>22</Slides>
  <Notes>20</Notes>
  <HiddenSlides>0</HiddenSlides>
  <MMClips>0</MMClips>
  <ScaleCrop>false</ScaleCrop>
  <HeadingPairs>
    <vt:vector size="8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36" baseType="lpstr">
      <vt:lpstr>Graphik Semibold</vt:lpstr>
      <vt:lpstr>Google Sans Medium</vt:lpstr>
      <vt:lpstr>Google Sans</vt:lpstr>
      <vt:lpstr>Google Sans Mono</vt:lpstr>
      <vt:lpstr>Noto Sans Symbols</vt:lpstr>
      <vt:lpstr>Merriweather</vt:lpstr>
      <vt:lpstr>Arial</vt:lpstr>
      <vt:lpstr>Inter ExtraBold</vt:lpstr>
      <vt:lpstr>Google Sans SemiBold</vt:lpstr>
      <vt:lpstr>Google Sans Text</vt:lpstr>
      <vt:lpstr>Inter</vt:lpstr>
      <vt:lpstr>Graphik</vt:lpstr>
      <vt:lpstr>Simple Light</vt:lpstr>
      <vt:lpstr>think-cell Slide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.TEMPLATE PPT ECOSSISTEMA. Crie uma cópia para editar</dc:title>
  <cp:lastModifiedBy>Jose Ahirton Batista Lopes Filho</cp:lastModifiedBy>
  <cp:revision>79</cp:revision>
  <dcterms:modified xsi:type="dcterms:W3CDTF">2026-09-24T17:02:07Z</dcterms:modified>
</cp:coreProperties>
</file>